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698480" cy="822960"/>
          </a:xfrm>
          <a:prstGeom prst="rect">
            <a:avLst/>
          </a:prstGeom>
          <a:noFill/>
        </p:spPr>
        <p:txBody>
          <a:bodyPr wrap="square" lIns="45720" rIns="45720" tIns="18288" bIns="18288" anchor="t">
            <a:spAutoFit/>
          </a:bodyPr>
          <a:lstStyle/>
          <a:p>
            <a:pPr algn="l"/>
            <a:r>
              <a:rPr sz="5400" b="1">
                <a:solidFill>
                  <a:srgbClr val="FFFFFF"/>
                </a:solidFill>
                <a:latin typeface="Calibri"/>
              </a:rPr>
              <a:t>MDU Sales Training</a:t>
            </a:r>
          </a:p>
        </p:txBody>
      </p:sp>
      <p:sp>
        <p:nvSpPr>
          <p:cNvPr id="5" name="TextBox 4"/>
          <p:cNvSpPr txBox="1"/>
          <p:nvPr/>
        </p:nvSpPr>
        <p:spPr>
          <a:xfrm>
            <a:off x="731520" y="3017520"/>
            <a:ext cx="10698480" cy="548640"/>
          </a:xfrm>
          <a:prstGeom prst="rect">
            <a:avLst/>
          </a:prstGeom>
          <a:noFill/>
        </p:spPr>
        <p:txBody>
          <a:bodyPr wrap="square" lIns="45720" rIns="45720" tIns="18288" bIns="18288" anchor="t">
            <a:spAutoFit/>
          </a:bodyPr>
          <a:lstStyle/>
          <a:p>
            <a:pPr algn="l"/>
            <a:r>
              <a:rPr sz="2200" b="0">
                <a:solidFill>
                  <a:srgbClr val="E8EEF7"/>
                </a:solidFill>
                <a:latin typeface="Calibri"/>
              </a:rPr>
              <a:t>Salesforce: Day-to-Day for the MDU Team</a:t>
            </a:r>
          </a:p>
        </p:txBody>
      </p:sp>
      <p:sp>
        <p:nvSpPr>
          <p:cNvPr id="6" name="TextBox 5"/>
          <p:cNvSpPr txBox="1"/>
          <p:nvPr/>
        </p:nvSpPr>
        <p:spPr>
          <a:xfrm>
            <a:off x="731520" y="6035040"/>
            <a:ext cx="10698480" cy="365760"/>
          </a:xfrm>
          <a:prstGeom prst="rect">
            <a:avLst/>
          </a:prstGeom>
          <a:noFill/>
        </p:spPr>
        <p:txBody>
          <a:bodyPr wrap="square" lIns="45720" rIns="45720" tIns="18288" bIns="18288" anchor="t">
            <a:spAutoFit/>
          </a:bodyPr>
          <a:lstStyle/>
          <a:p>
            <a:pPr algn="l"/>
            <a:r>
              <a:rPr sz="1200" b="0">
                <a:solidFill>
                  <a:srgbClr val="E8EEF7"/>
                </a:solidFill>
                <a:latin typeface="Calibri"/>
              </a:rPr>
              <a:t>Ubiquity  •  MDU Sales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Agenda</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0058400" cy="365760"/>
          </a:xfrm>
          <a:prstGeom prst="rect">
            <a:avLst/>
          </a:prstGeom>
          <a:noFill/>
        </p:spPr>
        <p:txBody>
          <a:bodyPr wrap="square" lIns="45720" rIns="45720" tIns="18288" bIns="18288" anchor="t">
            <a:spAutoFit/>
          </a:bodyPr>
          <a:lstStyle/>
          <a:p>
            <a:pPr algn="l"/>
            <a:r>
              <a:rPr sz="1400" b="0">
                <a:solidFill>
                  <a:srgbClr val="555555"/>
                </a:solidFill>
                <a:latin typeface="Calibri"/>
              </a:rPr>
              <a:t>Eleven sections, roughly in the order you will use them.</a:t>
            </a:r>
          </a:p>
        </p:txBody>
      </p:sp>
      <p:sp>
        <p:nvSpPr>
          <p:cNvPr id="7" name="TextBox 6"/>
          <p:cNvSpPr txBox="1"/>
          <p:nvPr/>
        </p:nvSpPr>
        <p:spPr>
          <a:xfrm>
            <a:off x="640080" y="1920240"/>
            <a:ext cx="5486400" cy="4572000"/>
          </a:xfrm>
          <a:prstGeom prst="rect">
            <a:avLst/>
          </a:prstGeom>
          <a:noFill/>
        </p:spPr>
        <p:txBody>
          <a:bodyPr wrap="square">
            <a:spAutoFit/>
          </a:bodyPr>
          <a:lstStyle/>
          <a:p>
            <a:pPr>
              <a:spcAft>
                <a:spcPts val="1200"/>
              </a:spcAft>
            </a:pPr>
            <a:r>
              <a:rPr sz="2000" b="1">
                <a:solidFill>
                  <a:srgbClr val="2E7D32"/>
                </a:solidFill>
                <a:latin typeface="Calibri"/>
              </a:rPr>
              <a:t> 1.  </a:t>
            </a:r>
            <a:r>
              <a:rPr sz="2000">
                <a:solidFill>
                  <a:srgbClr val="1F3A68"/>
                </a:solidFill>
                <a:latin typeface="Calibri"/>
              </a:rPr>
              <a:t>Why we moved to Salesforce</a:t>
            </a:r>
          </a:p>
          <a:p>
            <a:pPr>
              <a:spcAft>
                <a:spcPts val="1200"/>
              </a:spcAft>
            </a:pPr>
            <a:r>
              <a:rPr sz="2000" b="1">
                <a:solidFill>
                  <a:srgbClr val="2E7D32"/>
                </a:solidFill>
                <a:latin typeface="Calibri"/>
              </a:rPr>
              <a:t> 2.  </a:t>
            </a:r>
            <a:r>
              <a:rPr sz="2000">
                <a:solidFill>
                  <a:srgbClr val="1F3A68"/>
                </a:solidFill>
                <a:latin typeface="Calibri"/>
              </a:rPr>
              <a:t>Logging in and getting around</a:t>
            </a:r>
          </a:p>
          <a:p>
            <a:pPr>
              <a:spcAft>
                <a:spcPts val="1200"/>
              </a:spcAft>
            </a:pPr>
            <a:r>
              <a:rPr sz="2000" b="1">
                <a:solidFill>
                  <a:srgbClr val="2E7D32"/>
                </a:solidFill>
                <a:latin typeface="Calibri"/>
              </a:rPr>
              <a:t> 3.  </a:t>
            </a:r>
            <a:r>
              <a:rPr sz="2000">
                <a:solidFill>
                  <a:srgbClr val="1F3A68"/>
                </a:solidFill>
                <a:latin typeface="Calibri"/>
              </a:rPr>
              <a:t>How the data fits together</a:t>
            </a:r>
          </a:p>
          <a:p>
            <a:pPr>
              <a:spcAft>
                <a:spcPts val="1200"/>
              </a:spcAft>
            </a:pPr>
            <a:r>
              <a:rPr sz="2000" b="1">
                <a:solidFill>
                  <a:srgbClr val="2E7D32"/>
                </a:solidFill>
                <a:latin typeface="Calibri"/>
              </a:rPr>
              <a:t> 4.  </a:t>
            </a:r>
            <a:r>
              <a:rPr sz="2000">
                <a:solidFill>
                  <a:srgbClr val="1F3A68"/>
                </a:solidFill>
                <a:latin typeface="Calibri"/>
              </a:rPr>
              <a:t>Opportunity stages</a:t>
            </a:r>
          </a:p>
          <a:p>
            <a:pPr>
              <a:spcAft>
                <a:spcPts val="1200"/>
              </a:spcAft>
            </a:pPr>
            <a:r>
              <a:rPr sz="2000" b="1">
                <a:solidFill>
                  <a:srgbClr val="2E7D32"/>
                </a:solidFill>
                <a:latin typeface="Calibri"/>
              </a:rPr>
              <a:t> 5.  </a:t>
            </a:r>
            <a:r>
              <a:rPr sz="2000">
                <a:solidFill>
                  <a:srgbClr val="1F3A68"/>
                </a:solidFill>
                <a:latin typeface="Calibri"/>
              </a:rPr>
              <a:t>Daily workflows</a:t>
            </a:r>
          </a:p>
          <a:p>
            <a:pPr>
              <a:spcAft>
                <a:spcPts val="1200"/>
              </a:spcAft>
            </a:pPr>
            <a:r>
              <a:rPr sz="2000" b="1">
                <a:solidFill>
                  <a:srgbClr val="2E7D32"/>
                </a:solidFill>
                <a:latin typeface="Calibri"/>
              </a:rPr>
              <a:t> 6.  </a:t>
            </a:r>
            <a:r>
              <a:rPr sz="2000">
                <a:solidFill>
                  <a:srgbClr val="1F3A68"/>
                </a:solidFill>
                <a:latin typeface="Calibri"/>
              </a:rPr>
              <a:t>Agreements</a:t>
            </a:r>
          </a:p>
        </p:txBody>
      </p:sp>
      <p:sp>
        <p:nvSpPr>
          <p:cNvPr id="8" name="TextBox 7"/>
          <p:cNvSpPr txBox="1"/>
          <p:nvPr/>
        </p:nvSpPr>
        <p:spPr>
          <a:xfrm>
            <a:off x="6400800" y="1920240"/>
            <a:ext cx="5486400" cy="4572000"/>
          </a:xfrm>
          <a:prstGeom prst="rect">
            <a:avLst/>
          </a:prstGeom>
          <a:noFill/>
        </p:spPr>
        <p:txBody>
          <a:bodyPr wrap="square">
            <a:spAutoFit/>
          </a:bodyPr>
          <a:lstStyle/>
          <a:p>
            <a:pPr>
              <a:spcAft>
                <a:spcPts val="1200"/>
              </a:spcAft>
            </a:pPr>
            <a:r>
              <a:rPr sz="2000" b="1">
                <a:solidFill>
                  <a:srgbClr val="2E7D32"/>
                </a:solidFill>
                <a:latin typeface="Calibri"/>
              </a:rPr>
              <a:t> 7.  </a:t>
            </a:r>
            <a:r>
              <a:rPr sz="2000">
                <a:solidFill>
                  <a:srgbClr val="1F3A68"/>
                </a:solidFill>
                <a:latin typeface="Calibri"/>
              </a:rPr>
              <a:t>The MDU Tracker</a:t>
            </a:r>
          </a:p>
          <a:p>
            <a:pPr>
              <a:spcAft>
                <a:spcPts val="1200"/>
              </a:spcAft>
            </a:pPr>
            <a:r>
              <a:rPr sz="2000" b="1">
                <a:solidFill>
                  <a:srgbClr val="2E7D32"/>
                </a:solidFill>
                <a:latin typeface="Calibri"/>
              </a:rPr>
              <a:t> 8.  </a:t>
            </a:r>
            <a:r>
              <a:rPr sz="2000">
                <a:solidFill>
                  <a:srgbClr val="1F3A68"/>
                </a:solidFill>
                <a:latin typeface="Calibri"/>
              </a:rPr>
              <a:t>Reports and dashboards</a:t>
            </a:r>
          </a:p>
          <a:p>
            <a:pPr>
              <a:spcAft>
                <a:spcPts val="1200"/>
              </a:spcAft>
            </a:pPr>
            <a:r>
              <a:rPr sz="2000" b="1">
                <a:solidFill>
                  <a:srgbClr val="2E7D32"/>
                </a:solidFill>
                <a:latin typeface="Calibri"/>
              </a:rPr>
              <a:t> 9.  </a:t>
            </a:r>
            <a:r>
              <a:rPr sz="2000">
                <a:solidFill>
                  <a:srgbClr val="1F3A68"/>
                </a:solidFill>
                <a:latin typeface="Calibri"/>
              </a:rPr>
              <a:t>How SiteTracker fits in</a:t>
            </a:r>
          </a:p>
          <a:p>
            <a:pPr>
              <a:spcAft>
                <a:spcPts val="1200"/>
              </a:spcAft>
            </a:pPr>
            <a:r>
              <a:rPr sz="2000" b="1">
                <a:solidFill>
                  <a:srgbClr val="2E7D32"/>
                </a:solidFill>
                <a:latin typeface="Calibri"/>
              </a:rPr>
              <a:t>10.  </a:t>
            </a:r>
            <a:r>
              <a:rPr sz="2000">
                <a:solidFill>
                  <a:srgbClr val="1F3A68"/>
                </a:solidFill>
                <a:latin typeface="Calibri"/>
              </a:rPr>
              <a:t>Common gotchas and rules</a:t>
            </a:r>
          </a:p>
          <a:p>
            <a:pPr>
              <a:spcAft>
                <a:spcPts val="1200"/>
              </a:spcAft>
            </a:pPr>
            <a:r>
              <a:rPr sz="2000" b="1">
                <a:solidFill>
                  <a:srgbClr val="2E7D32"/>
                </a:solidFill>
                <a:latin typeface="Calibri"/>
              </a:rPr>
              <a:t>11.  </a:t>
            </a:r>
            <a:r>
              <a:rPr sz="2000">
                <a:solidFill>
                  <a:srgbClr val="1F3A68"/>
                </a:solidFill>
                <a:latin typeface="Calibri"/>
              </a:rPr>
              <a:t>What is coming next</a:t>
            </a:r>
          </a:p>
        </p:txBody>
      </p:sp>
      <p:sp>
        <p:nvSpPr>
          <p:cNvPr id="9" name="TextBox 8"/>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0" name="TextBox 9"/>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Agenda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2743200" cy="3200400"/>
          </a:xfrm>
          <a:prstGeom prst="rect">
            <a:avLst/>
          </a:prstGeom>
          <a:noFill/>
        </p:spPr>
        <p:txBody>
          <a:bodyPr wrap="square" lIns="45720" rIns="45720" tIns="18288" bIns="18288" anchor="t">
            <a:spAutoFit/>
          </a:bodyPr>
          <a:lstStyle/>
          <a:p>
            <a:pPr algn="l"/>
            <a:r>
              <a:rPr sz="18000" b="1">
                <a:solidFill>
                  <a:srgbClr val="2E7D32"/>
                </a:solidFill>
                <a:latin typeface="Calibri"/>
              </a:rPr>
              <a:t>01</a:t>
            </a:r>
          </a:p>
        </p:txBody>
      </p:sp>
      <p:sp>
        <p:nvSpPr>
          <p:cNvPr id="4" name="TextBox 3"/>
          <p:cNvSpPr txBox="1"/>
          <p:nvPr/>
        </p:nvSpPr>
        <p:spPr>
          <a:xfrm>
            <a:off x="3657600" y="2377440"/>
            <a:ext cx="7955279" cy="914400"/>
          </a:xfrm>
          <a:prstGeom prst="rect">
            <a:avLst/>
          </a:prstGeom>
          <a:noFill/>
        </p:spPr>
        <p:txBody>
          <a:bodyPr wrap="square" lIns="45720" rIns="45720" tIns="18288" bIns="18288" anchor="t">
            <a:spAutoFit/>
          </a:bodyPr>
          <a:lstStyle/>
          <a:p>
            <a:pPr algn="l"/>
            <a:r>
              <a:rPr sz="4400" b="1">
                <a:solidFill>
                  <a:srgbClr val="FFFFFF"/>
                </a:solidFill>
                <a:latin typeface="Calibri"/>
              </a:rPr>
              <a:t>Why we moved to Salesforce</a:t>
            </a:r>
          </a:p>
        </p:txBody>
      </p:sp>
      <p:sp>
        <p:nvSpPr>
          <p:cNvPr id="5" name="TextBox 4"/>
          <p:cNvSpPr txBox="1"/>
          <p:nvPr/>
        </p:nvSpPr>
        <p:spPr>
          <a:xfrm>
            <a:off x="3657600" y="3383280"/>
            <a:ext cx="7955279" cy="1828800"/>
          </a:xfrm>
          <a:prstGeom prst="rect">
            <a:avLst/>
          </a:prstGeom>
          <a:noFill/>
        </p:spPr>
        <p:txBody>
          <a:bodyPr wrap="square" lIns="45720" rIns="45720" tIns="18288" bIns="18288" anchor="t">
            <a:spAutoFit/>
          </a:bodyPr>
          <a:lstStyle/>
          <a:p>
            <a:pPr algn="l"/>
            <a:r>
              <a:rPr sz="1800" b="0">
                <a:solidFill>
                  <a:srgbClr val="E8EEF7"/>
                </a:solidFill>
                <a:latin typeface="Calibri"/>
              </a:rPr>
              <a:t>From a list in Monday.com to a system that ties pursuits, people, agreements, and builds together.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1</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What changes for you</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457200"/>
          </a:xfrm>
          <a:prstGeom prst="rect">
            <a:avLst/>
          </a:prstGeom>
          <a:noFill/>
        </p:spPr>
        <p:txBody>
          <a:bodyPr wrap="square" lIns="45720" rIns="45720" tIns="18288" bIns="18288" anchor="t">
            <a:spAutoFit/>
          </a:bodyPr>
          <a:lstStyle/>
          <a:p>
            <a:pPr algn="l"/>
            <a:r>
              <a:rPr sz="1800" b="0">
                <a:solidFill>
                  <a:srgbClr val="555555"/>
                </a:solidFill>
                <a:latin typeface="Calibri"/>
              </a:rPr>
              <a:t>Monday.com was a list. Salesforce is a system.</a:t>
            </a:r>
          </a:p>
        </p:txBody>
      </p:sp>
      <p:sp>
        <p:nvSpPr>
          <p:cNvPr id="7" name="TextBox 6"/>
          <p:cNvSpPr txBox="1"/>
          <p:nvPr/>
        </p:nvSpPr>
        <p:spPr>
          <a:xfrm>
            <a:off x="640080" y="2011680"/>
            <a:ext cx="10972800" cy="4114800"/>
          </a:xfrm>
          <a:prstGeom prst="rect">
            <a:avLst/>
          </a:prstGeom>
          <a:noFill/>
        </p:spPr>
        <p:txBody>
          <a:bodyPr wrap="square" lIns="45720" rIns="45720">
            <a:spAutoFit/>
          </a:bodyPr>
          <a:lstStyle/>
          <a:p>
            <a:pPr>
              <a:spcAft>
                <a:spcPts val="600"/>
              </a:spcAft>
            </a:pPr>
            <a:r>
              <a:rPr sz="1700" b="1">
                <a:solidFill>
                  <a:srgbClr val="1F3A68"/>
                </a:solidFill>
                <a:latin typeface="Calibri"/>
              </a:rPr>
              <a:t>•  One record per property: </a:t>
            </a:r>
            <a:r>
              <a:rPr sz="1700">
                <a:solidFill>
                  <a:srgbClr val="555555"/>
                </a:solidFill>
                <a:latin typeface="Calibri"/>
              </a:rPr>
              <a:t>the Opportunity is the property pursuit. Everything hangs off it.</a:t>
            </a:r>
          </a:p>
          <a:p>
            <a:pPr>
              <a:spcAft>
                <a:spcPts val="600"/>
              </a:spcAft>
            </a:pPr>
            <a:r>
              <a:rPr sz="1700" b="1">
                <a:solidFill>
                  <a:srgbClr val="1F3A68"/>
                </a:solidFill>
                <a:latin typeface="Calibri"/>
              </a:rPr>
              <a:t>•  Notes are first class: </a:t>
            </a:r>
            <a:r>
              <a:rPr sz="1700">
                <a:solidFill>
                  <a:srgbClr val="555555"/>
                </a:solidFill>
                <a:latin typeface="Calibri"/>
              </a:rPr>
              <a:t>every conversation, decision, and update on the Opportunity.</a:t>
            </a:r>
          </a:p>
          <a:p>
            <a:pPr>
              <a:spcAft>
                <a:spcPts val="600"/>
              </a:spcAft>
            </a:pPr>
            <a:r>
              <a:rPr sz="1700" b="1">
                <a:solidFill>
                  <a:srgbClr val="1F3A68"/>
                </a:solidFill>
                <a:latin typeface="Calibri"/>
              </a:rPr>
              <a:t>•  Agreements tracked separately: </a:t>
            </a:r>
            <a:r>
              <a:rPr sz="1700">
                <a:solidFill>
                  <a:srgbClr val="555555"/>
                </a:solidFill>
                <a:latin typeface="Calibri"/>
              </a:rPr>
              <a:t>PAL, ROE, EMA, Bulk each get their own record with own status.</a:t>
            </a:r>
          </a:p>
          <a:p>
            <a:pPr>
              <a:spcAft>
                <a:spcPts val="600"/>
              </a:spcAft>
            </a:pPr>
            <a:r>
              <a:rPr sz="1700" b="1">
                <a:solidFill>
                  <a:srgbClr val="1F3A68"/>
                </a:solidFill>
                <a:latin typeface="Calibri"/>
              </a:rPr>
              <a:t>•  Stages are the source of truth: </a:t>
            </a:r>
            <a:r>
              <a:rPr sz="1700">
                <a:solidFill>
                  <a:srgbClr val="555555"/>
                </a:solidFill>
                <a:latin typeface="Calibri"/>
              </a:rPr>
              <a:t>moving Opps through stages is how leadership sees pipeline.</a:t>
            </a:r>
          </a:p>
          <a:p>
            <a:pPr>
              <a:spcAft>
                <a:spcPts val="600"/>
              </a:spcAft>
            </a:pPr>
            <a:r>
              <a:rPr sz="1700" b="1">
                <a:solidFill>
                  <a:srgbClr val="1F3A68"/>
                </a:solidFill>
                <a:latin typeface="Calibri"/>
              </a:rPr>
              <a:t>•  Build tracking stays in SiteTracker: </a:t>
            </a:r>
            <a:r>
              <a:rPr sz="1700">
                <a:solidFill>
                  <a:srgbClr val="555555"/>
                </a:solidFill>
                <a:latin typeface="Calibri"/>
              </a:rPr>
              <a:t>the Opp does not track construction.</a:t>
            </a:r>
          </a:p>
        </p:txBody>
      </p:sp>
      <p:sp>
        <p:nvSpPr>
          <p:cNvPr id="8" name="TextBox 7"/>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9" name="TextBox 8"/>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1</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What was migrated</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457200"/>
          </a:xfrm>
          <a:prstGeom prst="rect">
            <a:avLst/>
          </a:prstGeom>
          <a:noFill/>
        </p:spPr>
        <p:txBody>
          <a:bodyPr wrap="square" lIns="45720" rIns="45720" tIns="18288" bIns="18288" anchor="t">
            <a:spAutoFit/>
          </a:bodyPr>
          <a:lstStyle/>
          <a:p>
            <a:pPr algn="l"/>
            <a:r>
              <a:rPr sz="1800" b="0">
                <a:solidFill>
                  <a:srgbClr val="555555"/>
                </a:solidFill>
                <a:latin typeface="Calibri"/>
              </a:rPr>
              <a:t>What was migrated from Monday.com</a:t>
            </a:r>
          </a:p>
        </p:txBody>
      </p:sp>
      <p:sp>
        <p:nvSpPr>
          <p:cNvPr id="7" name="TextBox 6"/>
          <p:cNvSpPr txBox="1"/>
          <p:nvPr/>
        </p:nvSpPr>
        <p:spPr>
          <a:xfrm>
            <a:off x="640080" y="2194560"/>
            <a:ext cx="10972800" cy="3657600"/>
          </a:xfrm>
          <a:prstGeom prst="rect">
            <a:avLst/>
          </a:prstGeom>
          <a:noFill/>
        </p:spPr>
        <p:txBody>
          <a:bodyPr wrap="square" lIns="45720" rIns="45720">
            <a:spAutoFit/>
          </a:bodyPr>
          <a:lstStyle/>
          <a:p>
            <a:pPr>
              <a:spcAft>
                <a:spcPts val="600"/>
              </a:spcAft>
            </a:pPr>
            <a:r>
              <a:rPr sz="2000">
                <a:solidFill>
                  <a:srgbClr val="555555"/>
                </a:solidFill>
                <a:latin typeface="Calibri"/>
              </a:rPr>
              <a:t>•  3,229 MDU Opportunities</a:t>
            </a:r>
          </a:p>
          <a:p>
            <a:pPr>
              <a:spcAft>
                <a:spcPts val="600"/>
              </a:spcAft>
            </a:pPr>
            <a:r>
              <a:rPr sz="2000">
                <a:solidFill>
                  <a:srgbClr val="555555"/>
                </a:solidFill>
                <a:latin typeface="Calibri"/>
              </a:rPr>
              <a:t>•  26 Accounts and 128 Contacts</a:t>
            </a:r>
          </a:p>
          <a:p>
            <a:pPr>
              <a:spcAft>
                <a:spcPts val="600"/>
              </a:spcAft>
            </a:pPr>
            <a:r>
              <a:rPr sz="2000">
                <a:solidFill>
                  <a:srgbClr val="555555"/>
                </a:solidFill>
                <a:latin typeface="Calibri"/>
              </a:rPr>
              <a:t>•  1,291 Agreements (status carried over from Monday columns)</a:t>
            </a:r>
          </a:p>
          <a:p>
            <a:pPr>
              <a:spcAft>
                <a:spcPts val="600"/>
              </a:spcAft>
            </a:pPr>
            <a:r>
              <a:rPr sz="2000">
                <a:solidFill>
                  <a:srgbClr val="555555"/>
                </a:solidFill>
                <a:latin typeface="Calibri"/>
              </a:rPr>
              <a:t>•  13,269 historical Notes (every Monday update preserved by author + date)</a:t>
            </a:r>
          </a:p>
        </p:txBody>
      </p:sp>
      <p:sp>
        <p:nvSpPr>
          <p:cNvPr id="8" name="TextBox 7"/>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9" name="TextBox 8"/>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2743200" cy="3200400"/>
          </a:xfrm>
          <a:prstGeom prst="rect">
            <a:avLst/>
          </a:prstGeom>
          <a:noFill/>
        </p:spPr>
        <p:txBody>
          <a:bodyPr wrap="square" lIns="45720" rIns="45720" tIns="18288" bIns="18288" anchor="t">
            <a:spAutoFit/>
          </a:bodyPr>
          <a:lstStyle/>
          <a:p>
            <a:pPr algn="l"/>
            <a:r>
              <a:rPr sz="18000" b="1">
                <a:solidFill>
                  <a:srgbClr val="2E7D32"/>
                </a:solidFill>
                <a:latin typeface="Calibri"/>
              </a:rPr>
              <a:t>02</a:t>
            </a:r>
          </a:p>
        </p:txBody>
      </p:sp>
      <p:sp>
        <p:nvSpPr>
          <p:cNvPr id="4" name="TextBox 3"/>
          <p:cNvSpPr txBox="1"/>
          <p:nvPr/>
        </p:nvSpPr>
        <p:spPr>
          <a:xfrm>
            <a:off x="3657600" y="2377440"/>
            <a:ext cx="7955279" cy="914400"/>
          </a:xfrm>
          <a:prstGeom prst="rect">
            <a:avLst/>
          </a:prstGeom>
          <a:noFill/>
        </p:spPr>
        <p:txBody>
          <a:bodyPr wrap="square" lIns="45720" rIns="45720" tIns="18288" bIns="18288" anchor="t">
            <a:spAutoFit/>
          </a:bodyPr>
          <a:lstStyle/>
          <a:p>
            <a:pPr algn="l"/>
            <a:r>
              <a:rPr sz="4400" b="1">
                <a:solidFill>
                  <a:srgbClr val="FFFFFF"/>
                </a:solidFill>
                <a:latin typeface="Calibri"/>
              </a:rPr>
              <a:t>Logging in and getting around</a:t>
            </a:r>
          </a:p>
        </p:txBody>
      </p:sp>
      <p:sp>
        <p:nvSpPr>
          <p:cNvPr id="5" name="TextBox 4"/>
          <p:cNvSpPr txBox="1"/>
          <p:nvPr/>
        </p:nvSpPr>
        <p:spPr>
          <a:xfrm>
            <a:off x="3657600" y="3383280"/>
            <a:ext cx="7955279" cy="1828800"/>
          </a:xfrm>
          <a:prstGeom prst="rect">
            <a:avLst/>
          </a:prstGeom>
          <a:noFill/>
        </p:spPr>
        <p:txBody>
          <a:bodyPr wrap="square" lIns="45720" rIns="45720" tIns="18288" bIns="18288" anchor="t">
            <a:spAutoFit/>
          </a:bodyPr>
          <a:lstStyle/>
          <a:p>
            <a:pPr algn="l"/>
            <a:r>
              <a:rPr sz="1800" b="0">
                <a:solidFill>
                  <a:srgbClr val="E8EEF7"/>
                </a:solidFill>
                <a:latin typeface="Calibri"/>
              </a:rPr>
              <a:t>Where to log in, how to find the MDU Sales app, and the tabs you will use every 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2</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Where to log in</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10972800" cy="1828800"/>
          </a:xfrm>
          <a:prstGeom prst="rect">
            <a:avLst/>
          </a:prstGeom>
          <a:noFill/>
        </p:spPr>
        <p:txBody>
          <a:bodyPr wrap="square" lIns="45720" rIns="45720">
            <a:spAutoFit/>
          </a:bodyPr>
          <a:lstStyle/>
          <a:p>
            <a:pPr>
              <a:spcAft>
                <a:spcPts val="600"/>
              </a:spcAft>
            </a:pPr>
            <a:r>
              <a:rPr sz="1800" b="1">
                <a:solidFill>
                  <a:srgbClr val="1F3A68"/>
                </a:solidFill>
                <a:latin typeface="Calibri"/>
              </a:rPr>
              <a:t>•  Lightning URL: </a:t>
            </a:r>
            <a:r>
              <a:rPr sz="1800">
                <a:solidFill>
                  <a:srgbClr val="555555"/>
                </a:solidFill>
                <a:latin typeface="Calibri"/>
              </a:rPr>
              <a:t>https://fun-power-747.lightning.force.com</a:t>
            </a:r>
          </a:p>
          <a:p>
            <a:pPr>
              <a:spcAft>
                <a:spcPts val="600"/>
              </a:spcAft>
            </a:pPr>
            <a:r>
              <a:rPr sz="1800" b="1">
                <a:solidFill>
                  <a:srgbClr val="1F3A68"/>
                </a:solidFill>
                <a:latin typeface="Calibri"/>
              </a:rPr>
              <a:t>•  Username: </a:t>
            </a:r>
            <a:r>
              <a:rPr sz="1800">
                <a:solidFill>
                  <a:srgbClr val="555555"/>
                </a:solidFill>
                <a:latin typeface="Calibri"/>
              </a:rPr>
              <a:t>your @ubiquitygp.com Salesforce username</a:t>
            </a:r>
          </a:p>
          <a:p>
            <a:pPr>
              <a:spcAft>
                <a:spcPts val="600"/>
              </a:spcAft>
            </a:pPr>
            <a:r>
              <a:rPr sz="1800" b="1">
                <a:solidFill>
                  <a:srgbClr val="1F3A68"/>
                </a:solidFill>
                <a:latin typeface="Calibri"/>
              </a:rPr>
              <a:t>•  If you cannot log in: </a:t>
            </a:r>
            <a:r>
              <a:rPr sz="1800">
                <a:solidFill>
                  <a:srgbClr val="555555"/>
                </a:solidFill>
                <a:latin typeface="Calibri"/>
              </a:rPr>
              <a:t>Forgot Password on the login page, or ping Cass.</a:t>
            </a:r>
          </a:p>
        </p:txBody>
      </p:sp>
      <p:sp>
        <p:nvSpPr>
          <p:cNvPr id="7" name="TextBox 6"/>
          <p:cNvSpPr txBox="1"/>
          <p:nvPr/>
        </p:nvSpPr>
        <p:spPr>
          <a:xfrm>
            <a:off x="457200" y="3291840"/>
            <a:ext cx="11247120" cy="365760"/>
          </a:xfrm>
          <a:prstGeom prst="rect">
            <a:avLst/>
          </a:prstGeom>
          <a:noFill/>
        </p:spPr>
        <p:txBody>
          <a:bodyPr wrap="square" lIns="45720" rIns="45720" tIns="18288" bIns="18288" anchor="t">
            <a:spAutoFit/>
          </a:bodyPr>
          <a:lstStyle/>
          <a:p>
            <a:pPr algn="l"/>
            <a:r>
              <a:rPr sz="2000" b="1">
                <a:solidFill>
                  <a:srgbClr val="2E7D32"/>
                </a:solidFill>
                <a:latin typeface="Calibri"/>
              </a:rPr>
              <a:t>Switching to the MDU Sales app</a:t>
            </a:r>
          </a:p>
        </p:txBody>
      </p:sp>
      <p:sp>
        <p:nvSpPr>
          <p:cNvPr id="8" name="TextBox 7"/>
          <p:cNvSpPr txBox="1"/>
          <p:nvPr/>
        </p:nvSpPr>
        <p:spPr>
          <a:xfrm>
            <a:off x="640080" y="3749039"/>
            <a:ext cx="10972800" cy="2286000"/>
          </a:xfrm>
          <a:prstGeom prst="rect">
            <a:avLst/>
          </a:prstGeom>
          <a:noFill/>
        </p:spPr>
        <p:txBody>
          <a:bodyPr wrap="square" lIns="45720" rIns="45720">
            <a:spAutoFit/>
          </a:bodyPr>
          <a:lstStyle/>
          <a:p>
            <a:pPr>
              <a:spcAft>
                <a:spcPts val="600"/>
              </a:spcAft>
            </a:pPr>
            <a:r>
              <a:rPr sz="1800">
                <a:solidFill>
                  <a:srgbClr val="555555"/>
                </a:solidFill>
                <a:latin typeface="Calibri"/>
              </a:rPr>
              <a:t>•  Top left, click the App Launcher (nine-dot grid).</a:t>
            </a:r>
          </a:p>
          <a:p>
            <a:pPr>
              <a:spcAft>
                <a:spcPts val="600"/>
              </a:spcAft>
            </a:pPr>
            <a:r>
              <a:rPr sz="1800">
                <a:solidFill>
                  <a:srgbClr val="555555"/>
                </a:solidFill>
                <a:latin typeface="Calibri"/>
              </a:rPr>
              <a:t>•  Type "MDU Sales" and pin it. This is the app you live in day to day.</a:t>
            </a:r>
          </a:p>
          <a:p>
            <a:pPr>
              <a:spcAft>
                <a:spcPts val="600"/>
              </a:spcAft>
            </a:pPr>
            <a:r>
              <a:rPr sz="1800">
                <a:solidFill>
                  <a:srgbClr val="555555"/>
                </a:solidFill>
                <a:latin typeface="Calibri"/>
              </a:rPr>
              <a:t>•  If you also work Business pursuits, switch to Business Sales from the same launcher.</a:t>
            </a:r>
          </a:p>
        </p:txBody>
      </p:sp>
      <p:sp>
        <p:nvSpPr>
          <p:cNvPr id="9" name="TextBox 8"/>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0" name="TextBox 9"/>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2</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Tabs you will use</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11247120" cy="365760"/>
          </a:xfrm>
          <a:prstGeom prst="rect">
            <a:avLst/>
          </a:prstGeom>
          <a:noFill/>
        </p:spPr>
        <p:txBody>
          <a:bodyPr wrap="square" lIns="45720" rIns="45720" tIns="18288" bIns="18288" anchor="t">
            <a:spAutoFit/>
          </a:bodyPr>
          <a:lstStyle/>
          <a:p>
            <a:pPr algn="l"/>
            <a:r>
              <a:rPr sz="1800" b="0">
                <a:solidFill>
                  <a:srgbClr val="555555"/>
                </a:solidFill>
                <a:latin typeface="Calibri"/>
              </a:rPr>
              <a:t>Tabs you will use</a:t>
            </a:r>
          </a:p>
        </p:txBody>
      </p:sp>
      <p:graphicFrame>
        <p:nvGraphicFramePr>
          <p:cNvPr id="7" name="Table 6"/>
          <p:cNvGraphicFramePr>
            <a:graphicFrameLocks noGrp="1"/>
          </p:cNvGraphicFramePr>
          <p:nvPr/>
        </p:nvGraphicFramePr>
        <p:xfrm>
          <a:off x="457200" y="1737360"/>
          <a:ext cx="11247120" cy="4389120"/>
        </p:xfrm>
        <a:graphic>
          <a:graphicData uri="http://schemas.openxmlformats.org/drawingml/2006/table">
            <a:tbl>
              <a:tblPr firstRow="1" bandRow="1">
                <a:tableStyleId>{5C22544A-7EE6-4342-B048-85BDC9FD1C3A}</a:tableStyleId>
              </a:tblPr>
              <a:tblGrid>
                <a:gridCol w="3749040"/>
                <a:gridCol w="3749040"/>
                <a:gridCol w="3749040"/>
              </a:tblGrid>
              <a:tr h="548640">
                <a:tc>
                  <a:txBody>
                    <a:bodyPr/>
                    <a:lstStyle/>
                    <a:p>
                      <a:r>
                        <a:rPr sz="1300" b="1">
                          <a:solidFill>
                            <a:srgbClr val="FFFFFF"/>
                          </a:solidFill>
                          <a:latin typeface="Calibri"/>
                        </a:rPr>
                        <a:t>Tab</a:t>
                      </a:r>
                    </a:p>
                  </a:txBody>
                  <a:tcPr>
                    <a:solidFill>
                      <a:srgbClr val="1F3A68"/>
                    </a:solidFill>
                  </a:tcPr>
                </a:tc>
                <a:tc>
                  <a:txBody>
                    <a:bodyPr/>
                    <a:lstStyle/>
                    <a:p>
                      <a:r>
                        <a:rPr sz="1300" b="1">
                          <a:solidFill>
                            <a:srgbClr val="FFFFFF"/>
                          </a:solidFill>
                          <a:latin typeface="Calibri"/>
                        </a:rPr>
                        <a:t>What it is</a:t>
                      </a:r>
                    </a:p>
                  </a:txBody>
                  <a:tcPr>
                    <a:solidFill>
                      <a:srgbClr val="1F3A68"/>
                    </a:solidFill>
                  </a:tcPr>
                </a:tc>
                <a:tc>
                  <a:txBody>
                    <a:bodyPr/>
                    <a:lstStyle/>
                    <a:p>
                      <a:r>
                        <a:rPr sz="1300" b="1">
                          <a:solidFill>
                            <a:srgbClr val="FFFFFF"/>
                          </a:solidFill>
                          <a:latin typeface="Calibri"/>
                        </a:rPr>
                        <a:t>When to use it</a:t>
                      </a:r>
                    </a:p>
                  </a:txBody>
                  <a:tcPr>
                    <a:solidFill>
                      <a:srgbClr val="1F3A68"/>
                    </a:solidFill>
                  </a:tcPr>
                </a:tc>
              </a:tr>
              <a:tr h="548640">
                <a:tc>
                  <a:txBody>
                    <a:bodyPr wrap="square"/>
                    <a:lstStyle/>
                    <a:p>
                      <a:r>
                        <a:rPr sz="1200">
                          <a:solidFill>
                            <a:srgbClr val="555555"/>
                          </a:solidFill>
                          <a:latin typeface="Calibri"/>
                        </a:rPr>
                        <a:t>Opportunities</a:t>
                      </a:r>
                    </a:p>
                  </a:txBody>
                  <a:tcPr>
                    <a:solidFill>
                      <a:srgbClr val="F5F8FD"/>
                    </a:solidFill>
                  </a:tcPr>
                </a:tc>
                <a:tc>
                  <a:txBody>
                    <a:bodyPr wrap="square"/>
                    <a:lstStyle/>
                    <a:p>
                      <a:r>
                        <a:rPr sz="1200">
                          <a:solidFill>
                            <a:srgbClr val="555555"/>
                          </a:solidFill>
                          <a:latin typeface="Calibri"/>
                        </a:rPr>
                        <a:t>Every property pursuit</a:t>
                      </a:r>
                    </a:p>
                  </a:txBody>
                  <a:tcPr>
                    <a:solidFill>
                      <a:srgbClr val="F5F8FD"/>
                    </a:solidFill>
                  </a:tcPr>
                </a:tc>
                <a:tc>
                  <a:txBody>
                    <a:bodyPr wrap="square"/>
                    <a:lstStyle/>
                    <a:p>
                      <a:r>
                        <a:rPr sz="1200">
                          <a:solidFill>
                            <a:srgbClr val="555555"/>
                          </a:solidFill>
                          <a:latin typeface="Calibri"/>
                        </a:rPr>
                        <a:t>Most of your day. Update stage, log notes, manage agreements.</a:t>
                      </a:r>
                    </a:p>
                  </a:txBody>
                  <a:tcPr>
                    <a:solidFill>
                      <a:srgbClr val="F5F8FD"/>
                    </a:solidFill>
                  </a:tcPr>
                </a:tc>
              </a:tr>
              <a:tr h="548640">
                <a:tc>
                  <a:txBody>
                    <a:bodyPr wrap="square"/>
                    <a:lstStyle/>
                    <a:p>
                      <a:r>
                        <a:rPr sz="1200">
                          <a:solidFill>
                            <a:srgbClr val="555555"/>
                          </a:solidFill>
                          <a:latin typeface="Calibri"/>
                        </a:rPr>
                        <a:t>Accounts</a:t>
                      </a:r>
                    </a:p>
                  </a:txBody>
                  <a:tcPr>
                    <a:solidFill>
                      <a:srgbClr val="FFFFFF"/>
                    </a:solidFill>
                  </a:tcPr>
                </a:tc>
                <a:tc>
                  <a:txBody>
                    <a:bodyPr wrap="square"/>
                    <a:lstStyle/>
                    <a:p>
                      <a:r>
                        <a:rPr sz="1200">
                          <a:solidFill>
                            <a:srgbClr val="555555"/>
                          </a:solidFill>
                          <a:latin typeface="Calibri"/>
                        </a:rPr>
                        <a:t>Mgmt companies &amp; owner entities</a:t>
                      </a:r>
                    </a:p>
                  </a:txBody>
                  <a:tcPr>
                    <a:solidFill>
                      <a:srgbClr val="FFFFFF"/>
                    </a:solidFill>
                  </a:tcPr>
                </a:tc>
                <a:tc>
                  <a:txBody>
                    <a:bodyPr wrap="square"/>
                    <a:lstStyle/>
                    <a:p>
                      <a:r>
                        <a:rPr sz="1200">
                          <a:solidFill>
                            <a:srgbClr val="555555"/>
                          </a:solidFill>
                          <a:latin typeface="Calibri"/>
                        </a:rPr>
                        <a:t>See all properties tied to one company.</a:t>
                      </a:r>
                    </a:p>
                  </a:txBody>
                  <a:tcPr>
                    <a:solidFill>
                      <a:srgbClr val="FFFFFF"/>
                    </a:solidFill>
                  </a:tcPr>
                </a:tc>
              </a:tr>
              <a:tr h="548640">
                <a:tc>
                  <a:txBody>
                    <a:bodyPr wrap="square"/>
                    <a:lstStyle/>
                    <a:p>
                      <a:r>
                        <a:rPr sz="1200">
                          <a:solidFill>
                            <a:srgbClr val="555555"/>
                          </a:solidFill>
                          <a:latin typeface="Calibri"/>
                        </a:rPr>
                        <a:t>Contacts</a:t>
                      </a:r>
                    </a:p>
                  </a:txBody>
                  <a:tcPr>
                    <a:solidFill>
                      <a:srgbClr val="F5F8FD"/>
                    </a:solidFill>
                  </a:tcPr>
                </a:tc>
                <a:tc>
                  <a:txBody>
                    <a:bodyPr wrap="square"/>
                    <a:lstStyle/>
                    <a:p>
                      <a:r>
                        <a:rPr sz="1200">
                          <a:solidFill>
                            <a:srgbClr val="555555"/>
                          </a:solidFill>
                          <a:latin typeface="Calibri"/>
                        </a:rPr>
                        <a:t>People (PMs, owners, leasing, HOA, GCs)</a:t>
                      </a:r>
                    </a:p>
                  </a:txBody>
                  <a:tcPr>
                    <a:solidFill>
                      <a:srgbClr val="F5F8FD"/>
                    </a:solidFill>
                  </a:tcPr>
                </a:tc>
                <a:tc>
                  <a:txBody>
                    <a:bodyPr wrap="square"/>
                    <a:lstStyle/>
                    <a:p>
                      <a:r>
                        <a:rPr sz="1200">
                          <a:solidFill>
                            <a:srgbClr val="555555"/>
                          </a:solidFill>
                          <a:latin typeface="Calibri"/>
                        </a:rPr>
                        <a:t>Find a person, see what properties they touch.</a:t>
                      </a:r>
                    </a:p>
                  </a:txBody>
                  <a:tcPr>
                    <a:solidFill>
                      <a:srgbClr val="F5F8FD"/>
                    </a:solidFill>
                  </a:tcPr>
                </a:tc>
              </a:tr>
              <a:tr h="548640">
                <a:tc>
                  <a:txBody>
                    <a:bodyPr wrap="square"/>
                    <a:lstStyle/>
                    <a:p>
                      <a:r>
                        <a:rPr sz="1200">
                          <a:solidFill>
                            <a:srgbClr val="555555"/>
                          </a:solidFill>
                          <a:latin typeface="Calibri"/>
                        </a:rPr>
                        <a:t>Agreements</a:t>
                      </a:r>
                    </a:p>
                  </a:txBody>
                  <a:tcPr>
                    <a:solidFill>
                      <a:srgbClr val="FFFFFF"/>
                    </a:solidFill>
                  </a:tcPr>
                </a:tc>
                <a:tc>
                  <a:txBody>
                    <a:bodyPr wrap="square"/>
                    <a:lstStyle/>
                    <a:p>
                      <a:r>
                        <a:rPr sz="1200">
                          <a:solidFill>
                            <a:srgbClr val="555555"/>
                          </a:solidFill>
                          <a:latin typeface="Calibri"/>
                        </a:rPr>
                        <a:t>PAL, ROE, EMA, Bulk records</a:t>
                      </a:r>
                    </a:p>
                  </a:txBody>
                  <a:tcPr>
                    <a:solidFill>
                      <a:srgbClr val="FFFFFF"/>
                    </a:solidFill>
                  </a:tcPr>
                </a:tc>
                <a:tc>
                  <a:txBody>
                    <a:bodyPr wrap="square"/>
                    <a:lstStyle/>
                    <a:p>
                      <a:r>
                        <a:rPr sz="1200">
                          <a:solidFill>
                            <a:srgbClr val="555555"/>
                          </a:solidFill>
                          <a:latin typeface="Calibri"/>
                        </a:rPr>
                        <a:t>Pipeline view of contracts in flight.</a:t>
                      </a:r>
                    </a:p>
                  </a:txBody>
                  <a:tcPr>
                    <a:solidFill>
                      <a:srgbClr val="FFFFFF"/>
                    </a:solidFill>
                  </a:tcPr>
                </a:tc>
              </a:tr>
              <a:tr h="548640">
                <a:tc>
                  <a:txBody>
                    <a:bodyPr wrap="square"/>
                    <a:lstStyle/>
                    <a:p>
                      <a:r>
                        <a:rPr sz="1200">
                          <a:solidFill>
                            <a:srgbClr val="555555"/>
                          </a:solidFill>
                          <a:latin typeface="Calibri"/>
                        </a:rPr>
                        <a:t>Property Locations</a:t>
                      </a:r>
                    </a:p>
                  </a:txBody>
                  <a:tcPr>
                    <a:solidFill>
                      <a:srgbClr val="F5F8FD"/>
                    </a:solidFill>
                  </a:tcPr>
                </a:tc>
                <a:tc>
                  <a:txBody>
                    <a:bodyPr wrap="square"/>
                    <a:lstStyle/>
                    <a:p>
                      <a:r>
                        <a:rPr sz="1200">
                          <a:solidFill>
                            <a:srgbClr val="555555"/>
                          </a:solidFill>
                          <a:latin typeface="Calibri"/>
                        </a:rPr>
                        <a:t>Serviceable properties (address-level)</a:t>
                      </a:r>
                    </a:p>
                  </a:txBody>
                  <a:tcPr>
                    <a:solidFill>
                      <a:srgbClr val="F5F8FD"/>
                    </a:solidFill>
                  </a:tcPr>
                </a:tc>
                <a:tc>
                  <a:txBody>
                    <a:bodyPr wrap="square"/>
                    <a:lstStyle/>
                    <a:p>
                      <a:r>
                        <a:rPr sz="1200">
                          <a:solidFill>
                            <a:srgbClr val="555555"/>
                          </a:solidFill>
                          <a:latin typeface="Calibri"/>
                        </a:rPr>
                        <a:t>One Account can have many Locations.</a:t>
                      </a:r>
                    </a:p>
                  </a:txBody>
                  <a:tcPr>
                    <a:solidFill>
                      <a:srgbClr val="F5F8FD"/>
                    </a:solidFill>
                  </a:tcPr>
                </a:tc>
              </a:tr>
              <a:tr h="548640">
                <a:tc>
                  <a:txBody>
                    <a:bodyPr wrap="square"/>
                    <a:lstStyle/>
                    <a:p>
                      <a:r>
                        <a:rPr sz="1200">
                          <a:solidFill>
                            <a:srgbClr val="555555"/>
                          </a:solidFill>
                          <a:latin typeface="Calibri"/>
                        </a:rPr>
                        <a:t>Reports</a:t>
                      </a:r>
                    </a:p>
                  </a:txBody>
                  <a:tcPr>
                    <a:solidFill>
                      <a:srgbClr val="FFFFFF"/>
                    </a:solidFill>
                  </a:tcPr>
                </a:tc>
                <a:tc>
                  <a:txBody>
                    <a:bodyPr wrap="square"/>
                    <a:lstStyle/>
                    <a:p>
                      <a:r>
                        <a:rPr sz="1200">
                          <a:solidFill>
                            <a:srgbClr val="555555"/>
                          </a:solidFill>
                          <a:latin typeface="Calibri"/>
                        </a:rPr>
                        <a:t>Saved reports</a:t>
                      </a:r>
                    </a:p>
                  </a:txBody>
                  <a:tcPr>
                    <a:solidFill>
                      <a:srgbClr val="FFFFFF"/>
                    </a:solidFill>
                  </a:tcPr>
                </a:tc>
                <a:tc>
                  <a:txBody>
                    <a:bodyPr wrap="square"/>
                    <a:lstStyle/>
                    <a:p>
                      <a:r>
                        <a:rPr sz="1200">
                          <a:solidFill>
                            <a:srgbClr val="555555"/>
                          </a:solidFill>
                          <a:latin typeface="Calibri"/>
                        </a:rPr>
                        <a:t>Pull lists for meetings or standups.</a:t>
                      </a:r>
                    </a:p>
                  </a:txBody>
                  <a:tcPr>
                    <a:solidFill>
                      <a:srgbClr val="FFFFFF"/>
                    </a:solidFill>
                  </a:tcPr>
                </a:tc>
              </a:tr>
              <a:tr h="548640">
                <a:tc>
                  <a:txBody>
                    <a:bodyPr wrap="square"/>
                    <a:lstStyle/>
                    <a:p>
                      <a:r>
                        <a:rPr sz="1200">
                          <a:solidFill>
                            <a:srgbClr val="555555"/>
                          </a:solidFill>
                          <a:latin typeface="Calibri"/>
                        </a:rPr>
                        <a:t>Dashboards</a:t>
                      </a:r>
                    </a:p>
                  </a:txBody>
                  <a:tcPr>
                    <a:solidFill>
                      <a:srgbClr val="F5F8FD"/>
                    </a:solidFill>
                  </a:tcPr>
                </a:tc>
                <a:tc>
                  <a:txBody>
                    <a:bodyPr wrap="square"/>
                    <a:lstStyle/>
                    <a:p>
                      <a:r>
                        <a:rPr sz="1200">
                          <a:solidFill>
                            <a:srgbClr val="555555"/>
                          </a:solidFill>
                          <a:latin typeface="Calibri"/>
                        </a:rPr>
                        <a:t>Visual rollups</a:t>
                      </a:r>
                    </a:p>
                  </a:txBody>
                  <a:tcPr>
                    <a:solidFill>
                      <a:srgbClr val="F5F8FD"/>
                    </a:solidFill>
                  </a:tcPr>
                </a:tc>
                <a:tc>
                  <a:txBody>
                    <a:bodyPr wrap="square"/>
                    <a:lstStyle/>
                    <a:p>
                      <a:r>
                        <a:rPr sz="1200">
                          <a:solidFill>
                            <a:srgbClr val="555555"/>
                          </a:solidFill>
                          <a:latin typeface="Calibri"/>
                        </a:rPr>
                        <a:t>MDU Sales Dashboard for a snapshot.</a:t>
                      </a:r>
                    </a:p>
                  </a:txBody>
                  <a:tcPr>
                    <a:solidFill>
                      <a:srgbClr val="F5F8FD"/>
                    </a:solidFill>
                  </a:tcPr>
                </a:tc>
              </a:tr>
            </a:tbl>
          </a:graphicData>
        </a:graphic>
      </p:graphicFrame>
      <p:sp>
        <p:nvSpPr>
          <p:cNvPr id="8" name="TextBox 7"/>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9" name="TextBox 8"/>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2743200" cy="3200400"/>
          </a:xfrm>
          <a:prstGeom prst="rect">
            <a:avLst/>
          </a:prstGeom>
          <a:noFill/>
        </p:spPr>
        <p:txBody>
          <a:bodyPr wrap="square" lIns="45720" rIns="45720" tIns="18288" bIns="18288" anchor="t">
            <a:spAutoFit/>
          </a:bodyPr>
          <a:lstStyle/>
          <a:p>
            <a:pPr algn="l"/>
            <a:r>
              <a:rPr sz="18000" b="1">
                <a:solidFill>
                  <a:srgbClr val="2E7D32"/>
                </a:solidFill>
                <a:latin typeface="Calibri"/>
              </a:rPr>
              <a:t>03</a:t>
            </a:r>
          </a:p>
        </p:txBody>
      </p:sp>
      <p:sp>
        <p:nvSpPr>
          <p:cNvPr id="4" name="TextBox 3"/>
          <p:cNvSpPr txBox="1"/>
          <p:nvPr/>
        </p:nvSpPr>
        <p:spPr>
          <a:xfrm>
            <a:off x="3657600" y="2377440"/>
            <a:ext cx="7955279" cy="914400"/>
          </a:xfrm>
          <a:prstGeom prst="rect">
            <a:avLst/>
          </a:prstGeom>
          <a:noFill/>
        </p:spPr>
        <p:txBody>
          <a:bodyPr wrap="square" lIns="45720" rIns="45720" tIns="18288" bIns="18288" anchor="t">
            <a:spAutoFit/>
          </a:bodyPr>
          <a:lstStyle/>
          <a:p>
            <a:pPr algn="l"/>
            <a:r>
              <a:rPr sz="4400" b="1">
                <a:solidFill>
                  <a:srgbClr val="FFFFFF"/>
                </a:solidFill>
                <a:latin typeface="Calibri"/>
              </a:rPr>
              <a:t>How the data fits together</a:t>
            </a:r>
          </a:p>
        </p:txBody>
      </p:sp>
      <p:sp>
        <p:nvSpPr>
          <p:cNvPr id="5" name="TextBox 4"/>
          <p:cNvSpPr txBox="1"/>
          <p:nvPr/>
        </p:nvSpPr>
        <p:spPr>
          <a:xfrm>
            <a:off x="3657600" y="3383280"/>
            <a:ext cx="7955279" cy="1828800"/>
          </a:xfrm>
          <a:prstGeom prst="rect">
            <a:avLst/>
          </a:prstGeom>
          <a:noFill/>
        </p:spPr>
        <p:txBody>
          <a:bodyPr wrap="square" lIns="45720" rIns="45720" tIns="18288" bIns="18288" anchor="t">
            <a:spAutoFit/>
          </a:bodyPr>
          <a:lstStyle/>
          <a:p>
            <a:pPr algn="l"/>
            <a:r>
              <a:rPr sz="1800" b="0">
                <a:solidFill>
                  <a:srgbClr val="E8EEF7"/>
                </a:solidFill>
                <a:latin typeface="Calibri"/>
              </a:rPr>
              <a:t>The Opportunity is the center of the universe. Everything else hangs off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3</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The pieces</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457200"/>
          </a:xfrm>
          <a:prstGeom prst="rect">
            <a:avLst/>
          </a:prstGeom>
          <a:noFill/>
        </p:spPr>
        <p:txBody>
          <a:bodyPr wrap="square" lIns="45720" rIns="45720" tIns="18288" bIns="18288" anchor="t">
            <a:spAutoFit/>
          </a:bodyPr>
          <a:lstStyle/>
          <a:p>
            <a:pPr algn="l"/>
            <a:r>
              <a:rPr sz="1800" b="0">
                <a:solidFill>
                  <a:srgbClr val="555555"/>
                </a:solidFill>
                <a:latin typeface="Calibri"/>
              </a:rPr>
              <a:t>The pieces</a:t>
            </a:r>
          </a:p>
        </p:txBody>
      </p:sp>
      <p:sp>
        <p:nvSpPr>
          <p:cNvPr id="7" name="TextBox 6"/>
          <p:cNvSpPr txBox="1"/>
          <p:nvPr/>
        </p:nvSpPr>
        <p:spPr>
          <a:xfrm>
            <a:off x="640080" y="1920240"/>
            <a:ext cx="10972800" cy="4572000"/>
          </a:xfrm>
          <a:prstGeom prst="rect">
            <a:avLst/>
          </a:prstGeom>
          <a:noFill/>
        </p:spPr>
        <p:txBody>
          <a:bodyPr wrap="square" lIns="45720" rIns="45720">
            <a:spAutoFit/>
          </a:bodyPr>
          <a:lstStyle/>
          <a:p>
            <a:pPr>
              <a:spcAft>
                <a:spcPts val="600"/>
              </a:spcAft>
            </a:pPr>
            <a:r>
              <a:rPr sz="1500" b="1">
                <a:solidFill>
                  <a:srgbClr val="1F3A68"/>
                </a:solidFill>
                <a:latin typeface="Calibri"/>
              </a:rPr>
              <a:t>•  Account: </a:t>
            </a:r>
            <a:r>
              <a:rPr sz="1500">
                <a:solidFill>
                  <a:srgbClr val="555555"/>
                </a:solidFill>
                <a:latin typeface="Calibri"/>
              </a:rPr>
              <a:t>property mgmt company or owner entity (Greystar, an LLC).</a:t>
            </a:r>
          </a:p>
          <a:p>
            <a:pPr>
              <a:spcAft>
                <a:spcPts val="600"/>
              </a:spcAft>
            </a:pPr>
            <a:r>
              <a:rPr sz="1500" b="1">
                <a:solidFill>
                  <a:srgbClr val="1F3A68"/>
                </a:solidFill>
                <a:latin typeface="Calibri"/>
              </a:rPr>
              <a:t>•  Contact: </a:t>
            </a:r>
            <a:r>
              <a:rPr sz="1500">
                <a:solidFill>
                  <a:srgbClr val="555555"/>
                </a:solidFill>
                <a:latin typeface="Calibri"/>
              </a:rPr>
              <a:t>an actual person (PM, Owner, HOA, Leasing, GC, Legal, Broker).</a:t>
            </a:r>
          </a:p>
          <a:p>
            <a:pPr>
              <a:spcAft>
                <a:spcPts val="600"/>
              </a:spcAft>
            </a:pPr>
            <a:r>
              <a:rPr sz="1500" b="1">
                <a:solidFill>
                  <a:srgbClr val="1F3A68"/>
                </a:solidFill>
                <a:latin typeface="Calibri"/>
              </a:rPr>
              <a:t>•  Opportunity: </a:t>
            </a:r>
            <a:r>
              <a:rPr sz="1500">
                <a:solidFill>
                  <a:srgbClr val="555555"/>
                </a:solidFill>
                <a:latin typeface="Calibri"/>
              </a:rPr>
              <a:t>the property pursuit. One per property. Where your work lives.</a:t>
            </a:r>
          </a:p>
          <a:p>
            <a:pPr>
              <a:spcAft>
                <a:spcPts val="600"/>
              </a:spcAft>
            </a:pPr>
            <a:r>
              <a:rPr sz="1500" b="1">
                <a:solidFill>
                  <a:srgbClr val="1F3A68"/>
                </a:solidFill>
                <a:latin typeface="Calibri"/>
              </a:rPr>
              <a:t>•  Opportunity Contact: </a:t>
            </a:r>
            <a:r>
              <a:rPr sz="1500">
                <a:solidFill>
                  <a:srgbClr val="555555"/>
                </a:solidFill>
                <a:latin typeface="Calibri"/>
              </a:rPr>
              <a:t>links a Contact to an Opportunity with a Role.</a:t>
            </a:r>
          </a:p>
          <a:p>
            <a:pPr>
              <a:spcAft>
                <a:spcPts val="600"/>
              </a:spcAft>
            </a:pPr>
            <a:r>
              <a:rPr sz="1500" b="1">
                <a:solidFill>
                  <a:srgbClr val="1F3A68"/>
                </a:solidFill>
                <a:latin typeface="Calibri"/>
              </a:rPr>
              <a:t>•  Agreement: </a:t>
            </a:r>
            <a:r>
              <a:rPr sz="1500">
                <a:solidFill>
                  <a:srgbClr val="555555"/>
                </a:solidFill>
                <a:latin typeface="Calibri"/>
              </a:rPr>
              <a:t>child of the Opportunity. PAL/ROE/EMA/Bulk/etc.</a:t>
            </a:r>
          </a:p>
          <a:p>
            <a:pPr>
              <a:spcAft>
                <a:spcPts val="600"/>
              </a:spcAft>
            </a:pPr>
            <a:r>
              <a:rPr sz="1500" b="1">
                <a:solidFill>
                  <a:srgbClr val="1F3A68"/>
                </a:solidFill>
                <a:latin typeface="Calibri"/>
              </a:rPr>
              <a:t>•  Property Location: </a:t>
            </a:r>
            <a:r>
              <a:rPr sz="1500">
                <a:solidFill>
                  <a:srgbClr val="555555"/>
                </a:solidFill>
                <a:latin typeface="Calibri"/>
              </a:rPr>
              <a:t>the serviceable property record. Address, units, parcel.</a:t>
            </a:r>
          </a:p>
          <a:p>
            <a:pPr>
              <a:spcAft>
                <a:spcPts val="600"/>
              </a:spcAft>
            </a:pPr>
            <a:r>
              <a:rPr sz="1500" b="1">
                <a:solidFill>
                  <a:srgbClr val="1F3A68"/>
                </a:solidFill>
                <a:latin typeface="Calibri"/>
              </a:rPr>
              <a:t>•  Property Unit: </a:t>
            </a:r>
            <a:r>
              <a:rPr sz="1500">
                <a:solidFill>
                  <a:srgbClr val="555555"/>
                </a:solidFill>
                <a:latin typeface="Calibri"/>
              </a:rPr>
              <a:t>individual unit inside a Location (passive for MDU).</a:t>
            </a:r>
          </a:p>
          <a:p>
            <a:pPr>
              <a:spcAft>
                <a:spcPts val="600"/>
              </a:spcAft>
            </a:pPr>
            <a:r>
              <a:rPr sz="1500" b="1">
                <a:solidFill>
                  <a:srgbClr val="1F3A68"/>
                </a:solidFill>
                <a:latin typeface="Calibri"/>
              </a:rPr>
              <a:t>•  SiteTracker Project: </a:t>
            </a:r>
            <a:r>
              <a:rPr sz="1500">
                <a:solidFill>
                  <a:srgbClr val="555555"/>
                </a:solidFill>
                <a:latin typeface="Calibri"/>
              </a:rPr>
              <a:t>build record in the separate construction org.</a:t>
            </a:r>
          </a:p>
        </p:txBody>
      </p:sp>
      <p:sp>
        <p:nvSpPr>
          <p:cNvPr id="8" name="TextBox 7"/>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9" name="TextBox 8"/>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3</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How the records connect</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11247120" cy="457200"/>
          </a:xfrm>
          <a:prstGeom prst="rect">
            <a:avLst/>
          </a:prstGeom>
          <a:noFill/>
        </p:spPr>
        <p:txBody>
          <a:bodyPr wrap="square" lIns="45720" rIns="45720" tIns="18288" bIns="18288" anchor="t">
            <a:spAutoFit/>
          </a:bodyPr>
          <a:lstStyle/>
          <a:p>
            <a:pPr algn="l"/>
            <a:r>
              <a:rPr sz="1400" b="0">
                <a:solidFill>
                  <a:srgbClr val="555555"/>
                </a:solidFill>
                <a:latin typeface="Calibri"/>
              </a:rPr>
              <a:t>Account at top, Opportunity in the middle, agreements/notes/SiteTracker fan out from it.</a:t>
            </a:r>
          </a:p>
        </p:txBody>
      </p:sp>
      <p:pic>
        <p:nvPicPr>
          <p:cNvPr id="7" name="Picture 6" descr="_diagram_data_model.png"/>
          <p:cNvPicPr>
            <a:picLocks noChangeAspect="1"/>
          </p:cNvPicPr>
          <p:nvPr/>
        </p:nvPicPr>
        <p:blipFill>
          <a:blip r:embed="rId2"/>
          <a:stretch>
            <a:fillRect/>
          </a:stretch>
        </p:blipFill>
        <p:spPr>
          <a:xfrm>
            <a:off x="1371600" y="1828800"/>
            <a:ext cx="9418320" cy="6397349"/>
          </a:xfrm>
          <a:prstGeom prst="rect">
            <a:avLst/>
          </a:prstGeom>
        </p:spPr>
      </p:pic>
      <p:sp>
        <p:nvSpPr>
          <p:cNvPr id="8" name="TextBox 7"/>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9" name="TextBox 8"/>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3</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Why a junction object</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457200"/>
          </a:xfrm>
          <a:prstGeom prst="rect">
            <a:avLst/>
          </a:prstGeom>
          <a:noFill/>
        </p:spPr>
        <p:txBody>
          <a:bodyPr wrap="square" lIns="45720" rIns="45720" tIns="18288" bIns="18288" anchor="t">
            <a:spAutoFit/>
          </a:bodyPr>
          <a:lstStyle/>
          <a:p>
            <a:pPr algn="l"/>
            <a:r>
              <a:rPr sz="1800" b="0">
                <a:solidFill>
                  <a:srgbClr val="555555"/>
                </a:solidFill>
                <a:latin typeface="Calibri"/>
              </a:rPr>
              <a:t>Why a junction object for Contacts?</a:t>
            </a:r>
          </a:p>
        </p:txBody>
      </p:sp>
      <p:sp>
        <p:nvSpPr>
          <p:cNvPr id="7" name="TextBox 6"/>
          <p:cNvSpPr txBox="1"/>
          <p:nvPr/>
        </p:nvSpPr>
        <p:spPr>
          <a:xfrm>
            <a:off x="640080" y="2103120"/>
            <a:ext cx="10881360" cy="2286000"/>
          </a:xfrm>
          <a:prstGeom prst="rect">
            <a:avLst/>
          </a:prstGeom>
          <a:noFill/>
        </p:spPr>
        <p:txBody>
          <a:bodyPr wrap="square" lIns="45720" rIns="45720" tIns="18288" bIns="18288" anchor="t">
            <a:spAutoFit/>
          </a:bodyPr>
          <a:lstStyle/>
          <a:p>
            <a:pPr algn="l"/>
            <a:r>
              <a:rPr sz="2000" b="0">
                <a:solidFill>
                  <a:srgbClr val="1F3A68"/>
                </a:solidFill>
                <a:latin typeface="Calibri"/>
              </a:rPr>
              <a:t>A Property Manager often manages dozens of properties. We need that one Contact record connected to every Opportunity she touches, with the role on each. Opportunity Contact is what makes that work.</a:t>
            </a:r>
          </a:p>
        </p:txBody>
      </p:sp>
      <p:sp>
        <p:nvSpPr>
          <p:cNvPr id="8" name="TextBox 7"/>
          <p:cNvSpPr txBox="1"/>
          <p:nvPr/>
        </p:nvSpPr>
        <p:spPr>
          <a:xfrm>
            <a:off x="457200" y="4572000"/>
            <a:ext cx="11247120" cy="457200"/>
          </a:xfrm>
          <a:prstGeom prst="rect">
            <a:avLst/>
          </a:prstGeom>
          <a:noFill/>
        </p:spPr>
        <p:txBody>
          <a:bodyPr wrap="square" lIns="45720" rIns="45720" tIns="18288" bIns="18288" anchor="t">
            <a:spAutoFit/>
          </a:bodyPr>
          <a:lstStyle/>
          <a:p>
            <a:pPr algn="l"/>
            <a:r>
              <a:rPr sz="1800" b="1">
                <a:solidFill>
                  <a:srgbClr val="2E7D32"/>
                </a:solidFill>
                <a:latin typeface="Calibri"/>
              </a:rPr>
              <a:t>Practical impact</a:t>
            </a:r>
          </a:p>
        </p:txBody>
      </p:sp>
      <p:sp>
        <p:nvSpPr>
          <p:cNvPr id="9" name="TextBox 8"/>
          <p:cNvSpPr txBox="1"/>
          <p:nvPr/>
        </p:nvSpPr>
        <p:spPr>
          <a:xfrm>
            <a:off x="640080" y="5029200"/>
            <a:ext cx="10972800" cy="1463040"/>
          </a:xfrm>
          <a:prstGeom prst="rect">
            <a:avLst/>
          </a:prstGeom>
          <a:noFill/>
        </p:spPr>
        <p:txBody>
          <a:bodyPr wrap="square" lIns="45720" rIns="45720">
            <a:spAutoFit/>
          </a:bodyPr>
          <a:lstStyle/>
          <a:p>
            <a:pPr>
              <a:spcAft>
                <a:spcPts val="600"/>
              </a:spcAft>
            </a:pPr>
            <a:r>
              <a:rPr sz="1600">
                <a:solidFill>
                  <a:srgbClr val="555555"/>
                </a:solidFill>
                <a:latin typeface="Calibri"/>
              </a:rPr>
              <a:t>•  Search Contacts before creating. Reuse, do not duplicate.</a:t>
            </a:r>
          </a:p>
          <a:p>
            <a:pPr>
              <a:spcAft>
                <a:spcPts val="600"/>
              </a:spcAft>
            </a:pPr>
            <a:r>
              <a:rPr sz="1600">
                <a:solidFill>
                  <a:srgbClr val="555555"/>
                </a:solidFill>
                <a:latin typeface="Calibri"/>
              </a:rPr>
              <a:t>•  On a Contact record, you can see every Opportunity they appear on.</a:t>
            </a:r>
          </a:p>
        </p:txBody>
      </p:sp>
      <p:sp>
        <p:nvSpPr>
          <p:cNvPr id="10" name="TextBox 9"/>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1" name="TextBox 10"/>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2743200" cy="3200400"/>
          </a:xfrm>
          <a:prstGeom prst="rect">
            <a:avLst/>
          </a:prstGeom>
          <a:noFill/>
        </p:spPr>
        <p:txBody>
          <a:bodyPr wrap="square" lIns="45720" rIns="45720" tIns="18288" bIns="18288" anchor="t">
            <a:spAutoFit/>
          </a:bodyPr>
          <a:lstStyle/>
          <a:p>
            <a:pPr algn="l"/>
            <a:r>
              <a:rPr sz="18000" b="1">
                <a:solidFill>
                  <a:srgbClr val="2E7D32"/>
                </a:solidFill>
                <a:latin typeface="Calibri"/>
              </a:rPr>
              <a:t>04</a:t>
            </a:r>
          </a:p>
        </p:txBody>
      </p:sp>
      <p:sp>
        <p:nvSpPr>
          <p:cNvPr id="4" name="TextBox 3"/>
          <p:cNvSpPr txBox="1"/>
          <p:nvPr/>
        </p:nvSpPr>
        <p:spPr>
          <a:xfrm>
            <a:off x="3657600" y="2377440"/>
            <a:ext cx="7955279" cy="914400"/>
          </a:xfrm>
          <a:prstGeom prst="rect">
            <a:avLst/>
          </a:prstGeom>
          <a:noFill/>
        </p:spPr>
        <p:txBody>
          <a:bodyPr wrap="square" lIns="45720" rIns="45720" tIns="18288" bIns="18288" anchor="t">
            <a:spAutoFit/>
          </a:bodyPr>
          <a:lstStyle/>
          <a:p>
            <a:pPr algn="l"/>
            <a:r>
              <a:rPr sz="4400" b="1">
                <a:solidFill>
                  <a:srgbClr val="FFFFFF"/>
                </a:solidFill>
                <a:latin typeface="Calibri"/>
              </a:rPr>
              <a:t>Opportunity stages</a:t>
            </a:r>
          </a:p>
        </p:txBody>
      </p:sp>
      <p:sp>
        <p:nvSpPr>
          <p:cNvPr id="5" name="TextBox 4"/>
          <p:cNvSpPr txBox="1"/>
          <p:nvPr/>
        </p:nvSpPr>
        <p:spPr>
          <a:xfrm>
            <a:off x="3657600" y="3383280"/>
            <a:ext cx="7955279" cy="1828800"/>
          </a:xfrm>
          <a:prstGeom prst="rect">
            <a:avLst/>
          </a:prstGeom>
          <a:noFill/>
        </p:spPr>
        <p:txBody>
          <a:bodyPr wrap="square" lIns="45720" rIns="45720" tIns="18288" bIns="18288" anchor="t">
            <a:spAutoFit/>
          </a:bodyPr>
          <a:lstStyle/>
          <a:p>
            <a:pPr algn="l"/>
            <a:r>
              <a:rPr sz="1800" b="0">
                <a:solidFill>
                  <a:srgbClr val="E8EEF7"/>
                </a:solidFill>
                <a:latin typeface="Calibri"/>
              </a:rPr>
              <a:t>How leadership reads the pipeline. Keeping these honest is the most important habit.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4</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Stages and what they mean</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371600"/>
          <a:ext cx="11247120" cy="4572000"/>
        </p:xfrm>
        <a:graphic>
          <a:graphicData uri="http://schemas.openxmlformats.org/drawingml/2006/table">
            <a:tbl>
              <a:tblPr firstRow="1" bandRow="1">
                <a:tableStyleId>{5C22544A-7EE6-4342-B048-85BDC9FD1C3A}</a:tableStyleId>
              </a:tblPr>
              <a:tblGrid>
                <a:gridCol w="2811780"/>
                <a:gridCol w="2811780"/>
                <a:gridCol w="2811780"/>
                <a:gridCol w="2811780"/>
              </a:tblGrid>
              <a:tr h="571500">
                <a:tc>
                  <a:txBody>
                    <a:bodyPr/>
                    <a:lstStyle/>
                    <a:p>
                      <a:r>
                        <a:rPr sz="1300" b="1">
                          <a:solidFill>
                            <a:srgbClr val="FFFFFF"/>
                          </a:solidFill>
                          <a:latin typeface="Calibri"/>
                        </a:rPr>
                        <a:t>Stage</a:t>
                      </a:r>
                    </a:p>
                  </a:txBody>
                  <a:tcPr>
                    <a:solidFill>
                      <a:srgbClr val="1F3A68"/>
                    </a:solidFill>
                  </a:tcPr>
                </a:tc>
                <a:tc>
                  <a:txBody>
                    <a:bodyPr/>
                    <a:lstStyle/>
                    <a:p>
                      <a:r>
                        <a:rPr sz="1300" b="1">
                          <a:solidFill>
                            <a:srgbClr val="FFFFFF"/>
                          </a:solidFill>
                          <a:latin typeface="Calibri"/>
                        </a:rPr>
                        <a:t>Prob.</a:t>
                      </a:r>
                    </a:p>
                  </a:txBody>
                  <a:tcPr>
                    <a:solidFill>
                      <a:srgbClr val="1F3A68"/>
                    </a:solidFill>
                  </a:tcPr>
                </a:tc>
                <a:tc>
                  <a:txBody>
                    <a:bodyPr/>
                    <a:lstStyle/>
                    <a:p>
                      <a:r>
                        <a:rPr sz="1300" b="1">
                          <a:solidFill>
                            <a:srgbClr val="FFFFFF"/>
                          </a:solidFill>
                          <a:latin typeface="Calibri"/>
                        </a:rPr>
                        <a:t>What it means</a:t>
                      </a:r>
                    </a:p>
                  </a:txBody>
                  <a:tcPr>
                    <a:solidFill>
                      <a:srgbClr val="1F3A68"/>
                    </a:solidFill>
                  </a:tcPr>
                </a:tc>
                <a:tc>
                  <a:txBody>
                    <a:bodyPr/>
                    <a:lstStyle/>
                    <a:p>
                      <a:r>
                        <a:rPr sz="1300" b="1">
                          <a:solidFill>
                            <a:srgbClr val="FFFFFF"/>
                          </a:solidFill>
                          <a:latin typeface="Calibri"/>
                        </a:rPr>
                        <a:t>What is required</a:t>
                      </a:r>
                    </a:p>
                  </a:txBody>
                  <a:tcPr>
                    <a:solidFill>
                      <a:srgbClr val="1F3A68"/>
                    </a:solidFill>
                  </a:tcPr>
                </a:tc>
              </a:tr>
              <a:tr h="571500">
                <a:tc>
                  <a:txBody>
                    <a:bodyPr wrap="square"/>
                    <a:lstStyle/>
                    <a:p>
                      <a:r>
                        <a:rPr sz="1200">
                          <a:solidFill>
                            <a:srgbClr val="555555"/>
                          </a:solidFill>
                          <a:latin typeface="Calibri"/>
                        </a:rPr>
                        <a:t>Prospecting</a:t>
                      </a:r>
                    </a:p>
                  </a:txBody>
                  <a:tcPr>
                    <a:solidFill>
                      <a:srgbClr val="F5F8FD"/>
                    </a:solidFill>
                  </a:tcPr>
                </a:tc>
                <a:tc>
                  <a:txBody>
                    <a:bodyPr wrap="square"/>
                    <a:lstStyle/>
                    <a:p>
                      <a:r>
                        <a:rPr sz="1200">
                          <a:solidFill>
                            <a:srgbClr val="555555"/>
                          </a:solidFill>
                          <a:latin typeface="Calibri"/>
                        </a:rPr>
                        <a:t>10%</a:t>
                      </a:r>
                    </a:p>
                  </a:txBody>
                  <a:tcPr>
                    <a:solidFill>
                      <a:srgbClr val="F5F8FD"/>
                    </a:solidFill>
                  </a:tcPr>
                </a:tc>
                <a:tc>
                  <a:txBody>
                    <a:bodyPr wrap="square"/>
                    <a:lstStyle/>
                    <a:p>
                      <a:r>
                        <a:rPr sz="1200">
                          <a:solidFill>
                            <a:srgbClr val="555555"/>
                          </a:solidFill>
                          <a:latin typeface="Calibri"/>
                        </a:rPr>
                        <a:t>Property on the radar. Outreach in progress.</a:t>
                      </a:r>
                    </a:p>
                  </a:txBody>
                  <a:tcPr>
                    <a:solidFill>
                      <a:srgbClr val="F5F8FD"/>
                    </a:solidFill>
                  </a:tcPr>
                </a:tc>
                <a:tc>
                  <a:txBody>
                    <a:bodyPr wrap="square"/>
                    <a:lstStyle/>
                    <a:p>
                      <a:r>
                        <a:rPr sz="1200">
                          <a:solidFill>
                            <a:srgbClr val="555555"/>
                          </a:solidFill>
                          <a:latin typeface="Calibri"/>
                        </a:rPr>
                        <a:t>Sales Status</a:t>
                      </a:r>
                    </a:p>
                  </a:txBody>
                  <a:tcPr>
                    <a:solidFill>
                      <a:srgbClr val="F5F8FD"/>
                    </a:solidFill>
                  </a:tcPr>
                </a:tc>
              </a:tr>
              <a:tr h="571500">
                <a:tc>
                  <a:txBody>
                    <a:bodyPr wrap="square"/>
                    <a:lstStyle/>
                    <a:p>
                      <a:r>
                        <a:rPr sz="1200">
                          <a:solidFill>
                            <a:srgbClr val="555555"/>
                          </a:solidFill>
                          <a:latin typeface="Calibri"/>
                        </a:rPr>
                        <a:t>Engaged</a:t>
                      </a:r>
                    </a:p>
                  </a:txBody>
                  <a:tcPr>
                    <a:solidFill>
                      <a:srgbClr val="FFFFFF"/>
                    </a:solidFill>
                  </a:tcPr>
                </a:tc>
                <a:tc>
                  <a:txBody>
                    <a:bodyPr wrap="square"/>
                    <a:lstStyle/>
                    <a:p>
                      <a:r>
                        <a:rPr sz="1200">
                          <a:solidFill>
                            <a:srgbClr val="555555"/>
                          </a:solidFill>
                          <a:latin typeface="Calibri"/>
                        </a:rPr>
                        <a:t>30%</a:t>
                      </a:r>
                    </a:p>
                  </a:txBody>
                  <a:tcPr>
                    <a:solidFill>
                      <a:srgbClr val="FFFFFF"/>
                    </a:solidFill>
                  </a:tcPr>
                </a:tc>
                <a:tc>
                  <a:txBody>
                    <a:bodyPr wrap="square"/>
                    <a:lstStyle/>
                    <a:p>
                      <a:r>
                        <a:rPr sz="1200">
                          <a:solidFill>
                            <a:srgbClr val="555555"/>
                          </a:solidFill>
                          <a:latin typeface="Calibri"/>
                        </a:rPr>
                        <a:t>In real conversation with the property.</a:t>
                      </a:r>
                    </a:p>
                  </a:txBody>
                  <a:tcPr>
                    <a:solidFill>
                      <a:srgbClr val="FFFFFF"/>
                    </a:solidFill>
                  </a:tcPr>
                </a:tc>
                <a:tc>
                  <a:txBody>
                    <a:bodyPr wrap="square"/>
                    <a:lstStyle/>
                    <a:p>
                      <a:r>
                        <a:rPr sz="1200">
                          <a:solidFill>
                            <a:srgbClr val="555555"/>
                          </a:solidFill>
                          <a:latin typeface="Calibri"/>
                        </a:rPr>
                        <a:t>Property contact info</a:t>
                      </a:r>
                    </a:p>
                  </a:txBody>
                  <a:tcPr>
                    <a:solidFill>
                      <a:srgbClr val="FFFFFF"/>
                    </a:solidFill>
                  </a:tcPr>
                </a:tc>
              </a:tr>
              <a:tr h="571500">
                <a:tc>
                  <a:txBody>
                    <a:bodyPr wrap="square"/>
                    <a:lstStyle/>
                    <a:p>
                      <a:r>
                        <a:rPr sz="1200">
                          <a:solidFill>
                            <a:srgbClr val="555555"/>
                          </a:solidFill>
                          <a:latin typeface="Calibri"/>
                        </a:rPr>
                        <a:t>Contract Negotiations</a:t>
                      </a:r>
                    </a:p>
                  </a:txBody>
                  <a:tcPr>
                    <a:solidFill>
                      <a:srgbClr val="F5F8FD"/>
                    </a:solidFill>
                  </a:tcPr>
                </a:tc>
                <a:tc>
                  <a:txBody>
                    <a:bodyPr wrap="square"/>
                    <a:lstStyle/>
                    <a:p>
                      <a:r>
                        <a:rPr sz="1200">
                          <a:solidFill>
                            <a:srgbClr val="555555"/>
                          </a:solidFill>
                          <a:latin typeface="Calibri"/>
                        </a:rPr>
                        <a:t>50%</a:t>
                      </a:r>
                    </a:p>
                  </a:txBody>
                  <a:tcPr>
                    <a:solidFill>
                      <a:srgbClr val="F5F8FD"/>
                    </a:solidFill>
                  </a:tcPr>
                </a:tc>
                <a:tc>
                  <a:txBody>
                    <a:bodyPr wrap="square"/>
                    <a:lstStyle/>
                    <a:p>
                      <a:r>
                        <a:rPr sz="1200">
                          <a:solidFill>
                            <a:srgbClr val="555555"/>
                          </a:solidFill>
                          <a:latin typeface="Calibri"/>
                        </a:rPr>
                        <a:t>Terms being discussed. Agreement language going back and forth.</a:t>
                      </a:r>
                    </a:p>
                  </a:txBody>
                  <a:tcPr>
                    <a:solidFill>
                      <a:srgbClr val="F5F8FD"/>
                    </a:solidFill>
                  </a:tcPr>
                </a:tc>
                <a:tc>
                  <a:txBody>
                    <a:bodyPr wrap="square"/>
                    <a:lstStyle/>
                    <a:p>
                      <a:r>
                        <a:rPr sz="1200">
                          <a:solidFill>
                            <a:srgbClr val="555555"/>
                          </a:solidFill>
                          <a:latin typeface="Calibri"/>
                        </a:rPr>
                        <a:t>Agreement (Create/Review)</a:t>
                      </a:r>
                    </a:p>
                  </a:txBody>
                  <a:tcPr>
                    <a:solidFill>
                      <a:srgbClr val="F5F8FD"/>
                    </a:solidFill>
                  </a:tcPr>
                </a:tc>
              </a:tr>
              <a:tr h="571500">
                <a:tc>
                  <a:txBody>
                    <a:bodyPr wrap="square"/>
                    <a:lstStyle/>
                    <a:p>
                      <a:r>
                        <a:rPr sz="1200">
                          <a:solidFill>
                            <a:srgbClr val="555555"/>
                          </a:solidFill>
                          <a:latin typeface="Calibri"/>
                        </a:rPr>
                        <a:t>ROE Secured</a:t>
                      </a:r>
                    </a:p>
                  </a:txBody>
                  <a:tcPr>
                    <a:solidFill>
                      <a:srgbClr val="FFFFFF"/>
                    </a:solidFill>
                  </a:tcPr>
                </a:tc>
                <a:tc>
                  <a:txBody>
                    <a:bodyPr wrap="square"/>
                    <a:lstStyle/>
                    <a:p>
                      <a:r>
                        <a:rPr sz="1200">
                          <a:solidFill>
                            <a:srgbClr val="555555"/>
                          </a:solidFill>
                          <a:latin typeface="Calibri"/>
                        </a:rPr>
                        <a:t>50%</a:t>
                      </a:r>
                    </a:p>
                  </a:txBody>
                  <a:tcPr>
                    <a:solidFill>
                      <a:srgbClr val="FFFFFF"/>
                    </a:solidFill>
                  </a:tcPr>
                </a:tc>
                <a:tc>
                  <a:txBody>
                    <a:bodyPr wrap="square"/>
                    <a:lstStyle/>
                    <a:p>
                      <a:r>
                        <a:rPr sz="1200">
                          <a:solidFill>
                            <a:srgbClr val="555555"/>
                          </a:solidFill>
                          <a:latin typeface="Calibri"/>
                        </a:rPr>
                        <a:t>Right of Entry locked.</a:t>
                      </a:r>
                    </a:p>
                  </a:txBody>
                  <a:tcPr>
                    <a:solidFill>
                      <a:srgbClr val="FFFFFF"/>
                    </a:solidFill>
                  </a:tcPr>
                </a:tc>
                <a:tc>
                  <a:txBody>
                    <a:bodyPr wrap="square"/>
                    <a:lstStyle/>
                    <a:p>
                      <a:r>
                        <a:rPr sz="1200">
                          <a:solidFill>
                            <a:srgbClr val="555555"/>
                          </a:solidFill>
                          <a:latin typeface="Calibri"/>
                        </a:rPr>
                        <a:t>ROE Agreement signed</a:t>
                      </a:r>
                    </a:p>
                  </a:txBody>
                  <a:tcPr>
                    <a:solidFill>
                      <a:srgbClr val="FFFFFF"/>
                    </a:solidFill>
                  </a:tcPr>
                </a:tc>
              </a:tr>
              <a:tr h="571500">
                <a:tc>
                  <a:txBody>
                    <a:bodyPr wrap="square"/>
                    <a:lstStyle/>
                    <a:p>
                      <a:r>
                        <a:rPr sz="1200">
                          <a:solidFill>
                            <a:srgbClr val="555555"/>
                          </a:solidFill>
                          <a:latin typeface="Calibri"/>
                        </a:rPr>
                        <a:t>Under Contract</a:t>
                      </a:r>
                    </a:p>
                  </a:txBody>
                  <a:tcPr>
                    <a:solidFill>
                      <a:srgbClr val="F5F8FD"/>
                    </a:solidFill>
                  </a:tcPr>
                </a:tc>
                <a:tc>
                  <a:txBody>
                    <a:bodyPr wrap="square"/>
                    <a:lstStyle/>
                    <a:p>
                      <a:r>
                        <a:rPr sz="1200">
                          <a:solidFill>
                            <a:srgbClr val="555555"/>
                          </a:solidFill>
                          <a:latin typeface="Calibri"/>
                        </a:rPr>
                        <a:t>100%</a:t>
                      </a:r>
                    </a:p>
                  </a:txBody>
                  <a:tcPr>
                    <a:solidFill>
                      <a:srgbClr val="F5F8FD"/>
                    </a:solidFill>
                  </a:tcPr>
                </a:tc>
                <a:tc>
                  <a:txBody>
                    <a:bodyPr wrap="square"/>
                    <a:lstStyle/>
                    <a:p>
                      <a:r>
                        <a:rPr sz="1200">
                          <a:solidFill>
                            <a:srgbClr val="555555"/>
                          </a:solidFill>
                          <a:latin typeface="Calibri"/>
                        </a:rPr>
                        <a:t>PAL signed. SiteTracker takes over.</a:t>
                      </a:r>
                    </a:p>
                  </a:txBody>
                  <a:tcPr>
                    <a:solidFill>
                      <a:srgbClr val="F5F8FD"/>
                    </a:solidFill>
                  </a:tcPr>
                </a:tc>
                <a:tc>
                  <a:txBody>
                    <a:bodyPr wrap="square"/>
                    <a:lstStyle/>
                    <a:p>
                      <a:r>
                        <a:rPr sz="1200">
                          <a:solidFill>
                            <a:srgbClr val="555555"/>
                          </a:solidFill>
                          <a:latin typeface="Calibri"/>
                        </a:rPr>
                        <a:t>PAL signed + ST linked</a:t>
                      </a:r>
                    </a:p>
                  </a:txBody>
                  <a:tcPr>
                    <a:solidFill>
                      <a:srgbClr val="F5F8FD"/>
                    </a:solidFill>
                  </a:tcPr>
                </a:tc>
              </a:tr>
              <a:tr h="571500">
                <a:tc>
                  <a:txBody>
                    <a:bodyPr wrap="square"/>
                    <a:lstStyle/>
                    <a:p>
                      <a:r>
                        <a:rPr sz="1200">
                          <a:solidFill>
                            <a:srgbClr val="555555"/>
                          </a:solidFill>
                          <a:latin typeface="Calibri"/>
                        </a:rPr>
                        <a:t>On Hold</a:t>
                      </a:r>
                    </a:p>
                  </a:txBody>
                  <a:tcPr>
                    <a:solidFill>
                      <a:srgbClr val="FFFFFF"/>
                    </a:solidFill>
                  </a:tcPr>
                </a:tc>
                <a:tc>
                  <a:txBody>
                    <a:bodyPr wrap="square"/>
                    <a:lstStyle/>
                    <a:p>
                      <a:r>
                        <a:rPr sz="1200">
                          <a:solidFill>
                            <a:srgbClr val="555555"/>
                          </a:solidFill>
                          <a:latin typeface="Calibri"/>
                        </a:rPr>
                        <a:t>0%</a:t>
                      </a:r>
                    </a:p>
                  </a:txBody>
                  <a:tcPr>
                    <a:solidFill>
                      <a:srgbClr val="FFFFFF"/>
                    </a:solidFill>
                  </a:tcPr>
                </a:tc>
                <a:tc>
                  <a:txBody>
                    <a:bodyPr wrap="square"/>
                    <a:lstStyle/>
                    <a:p>
                      <a:r>
                        <a:rPr sz="1200">
                          <a:solidFill>
                            <a:srgbClr val="555555"/>
                          </a:solidFill>
                          <a:latin typeface="Calibri"/>
                        </a:rPr>
                        <a:t>Pursuit paused.</a:t>
                      </a:r>
                    </a:p>
                  </a:txBody>
                  <a:tcPr>
                    <a:solidFill>
                      <a:srgbClr val="FFFFFF"/>
                    </a:solidFill>
                  </a:tcPr>
                </a:tc>
                <a:tc>
                  <a:txBody>
                    <a:bodyPr wrap="square"/>
                    <a:lstStyle/>
                    <a:p>
                      <a:r>
                        <a:rPr sz="1200">
                          <a:solidFill>
                            <a:srgbClr val="555555"/>
                          </a:solidFill>
                          <a:latin typeface="Calibri"/>
                        </a:rPr>
                        <a:t>Hold Reason</a:t>
                      </a:r>
                    </a:p>
                  </a:txBody>
                  <a:tcPr>
                    <a:solidFill>
                      <a:srgbClr val="FFFFFF"/>
                    </a:solidFill>
                  </a:tcPr>
                </a:tc>
              </a:tr>
              <a:tr h="571500">
                <a:tc>
                  <a:txBody>
                    <a:bodyPr wrap="square"/>
                    <a:lstStyle/>
                    <a:p>
                      <a:r>
                        <a:rPr sz="1200">
                          <a:solidFill>
                            <a:srgbClr val="555555"/>
                          </a:solidFill>
                          <a:latin typeface="Calibri"/>
                        </a:rPr>
                        <a:t>Closed Lost</a:t>
                      </a:r>
                    </a:p>
                  </a:txBody>
                  <a:tcPr>
                    <a:solidFill>
                      <a:srgbClr val="F5F8FD"/>
                    </a:solidFill>
                  </a:tcPr>
                </a:tc>
                <a:tc>
                  <a:txBody>
                    <a:bodyPr wrap="square"/>
                    <a:lstStyle/>
                    <a:p>
                      <a:r>
                        <a:rPr sz="1200">
                          <a:solidFill>
                            <a:srgbClr val="555555"/>
                          </a:solidFill>
                          <a:latin typeface="Calibri"/>
                        </a:rPr>
                        <a:t>0%</a:t>
                      </a:r>
                    </a:p>
                  </a:txBody>
                  <a:tcPr>
                    <a:solidFill>
                      <a:srgbClr val="F5F8FD"/>
                    </a:solidFill>
                  </a:tcPr>
                </a:tc>
                <a:tc>
                  <a:txBody>
                    <a:bodyPr wrap="square"/>
                    <a:lstStyle/>
                    <a:p>
                      <a:r>
                        <a:rPr sz="1200">
                          <a:solidFill>
                            <a:srgbClr val="555555"/>
                          </a:solidFill>
                          <a:latin typeface="Calibri"/>
                        </a:rPr>
                        <a:t>Will not happen.</a:t>
                      </a:r>
                    </a:p>
                  </a:txBody>
                  <a:tcPr>
                    <a:solidFill>
                      <a:srgbClr val="F5F8FD"/>
                    </a:solidFill>
                  </a:tcPr>
                </a:tc>
                <a:tc>
                  <a:txBody>
                    <a:bodyPr wrap="square"/>
                    <a:lstStyle/>
                    <a:p>
                      <a:r>
                        <a:rPr sz="1200">
                          <a:solidFill>
                            <a:srgbClr val="555555"/>
                          </a:solidFill>
                          <a:latin typeface="Calibri"/>
                        </a:rPr>
                        <a:t>Loss Reason</a:t>
                      </a:r>
                    </a:p>
                  </a:txBody>
                  <a:tcPr>
                    <a:solidFill>
                      <a:srgbClr val="F5F8FD"/>
                    </a:solidFill>
                  </a:tcPr>
                </a:tc>
              </a:tr>
            </a:tbl>
          </a:graphicData>
        </a:graphic>
      </p:graphicFrame>
      <p:sp>
        <p:nvSpPr>
          <p:cNvPr id="7" name="TextBox 6"/>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8" name="TextBox 7"/>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4</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Required reasons by stage</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365760"/>
          </a:xfrm>
          <a:prstGeom prst="rect">
            <a:avLst/>
          </a:prstGeom>
          <a:noFill/>
        </p:spPr>
        <p:txBody>
          <a:bodyPr wrap="square" lIns="45720" rIns="45720" tIns="18288" bIns="18288" anchor="t">
            <a:spAutoFit/>
          </a:bodyPr>
          <a:lstStyle/>
          <a:p>
            <a:pPr algn="l"/>
            <a:r>
              <a:rPr sz="1800" b="1">
                <a:solidFill>
                  <a:srgbClr val="2E7D32"/>
                </a:solidFill>
                <a:latin typeface="Calibri"/>
              </a:rPr>
              <a:t>Sales Status (used during Prospecting)</a:t>
            </a:r>
          </a:p>
        </p:txBody>
      </p:sp>
      <p:sp>
        <p:nvSpPr>
          <p:cNvPr id="7" name="TextBox 6"/>
          <p:cNvSpPr txBox="1"/>
          <p:nvPr/>
        </p:nvSpPr>
        <p:spPr>
          <a:xfrm>
            <a:off x="640080" y="1828800"/>
            <a:ext cx="10972800" cy="1554480"/>
          </a:xfrm>
          <a:prstGeom prst="rect">
            <a:avLst/>
          </a:prstGeom>
          <a:noFill/>
        </p:spPr>
        <p:txBody>
          <a:bodyPr wrap="square" lIns="45720" rIns="45720">
            <a:spAutoFit/>
          </a:bodyPr>
          <a:lstStyle/>
          <a:p>
            <a:pPr>
              <a:spcAft>
                <a:spcPts val="600"/>
              </a:spcAft>
            </a:pPr>
            <a:r>
              <a:rPr sz="1600" b="1">
                <a:solidFill>
                  <a:srgbClr val="1F3A68"/>
                </a:solidFill>
                <a:latin typeface="Calibri"/>
              </a:rPr>
              <a:t>•  Contact Pending: </a:t>
            </a:r>
            <a:r>
              <a:rPr sz="1600">
                <a:solidFill>
                  <a:srgbClr val="555555"/>
                </a:solidFill>
                <a:latin typeface="Calibri"/>
              </a:rPr>
              <a:t>we do not yet have property contact info.</a:t>
            </a:r>
          </a:p>
          <a:p>
            <a:pPr>
              <a:spcAft>
                <a:spcPts val="600"/>
              </a:spcAft>
            </a:pPr>
            <a:r>
              <a:rPr sz="1600" b="1">
                <a:solidFill>
                  <a:srgbClr val="1F3A68"/>
                </a:solidFill>
                <a:latin typeface="Calibri"/>
              </a:rPr>
              <a:t>•  Reached Out, Pending Response: </a:t>
            </a:r>
            <a:r>
              <a:rPr sz="1600">
                <a:solidFill>
                  <a:srgbClr val="555555"/>
                </a:solidFill>
                <a:latin typeface="Calibri"/>
              </a:rPr>
              <a:t>outreach made, waiting on a reply.</a:t>
            </a:r>
          </a:p>
          <a:p>
            <a:pPr>
              <a:spcAft>
                <a:spcPts val="600"/>
              </a:spcAft>
            </a:pPr>
            <a:r>
              <a:rPr sz="1600" b="1">
                <a:solidFill>
                  <a:srgbClr val="1F3A68"/>
                </a:solidFill>
                <a:latin typeface="Calibri"/>
              </a:rPr>
              <a:t>•  Research Completed: </a:t>
            </a:r>
            <a:r>
              <a:rPr sz="1600">
                <a:solidFill>
                  <a:srgbClr val="555555"/>
                </a:solidFill>
                <a:latin typeface="Calibri"/>
              </a:rPr>
              <a:t>background work done, ready to engage.</a:t>
            </a:r>
          </a:p>
        </p:txBody>
      </p:sp>
      <p:sp>
        <p:nvSpPr>
          <p:cNvPr id="8" name="TextBox 7"/>
          <p:cNvSpPr txBox="1"/>
          <p:nvPr/>
        </p:nvSpPr>
        <p:spPr>
          <a:xfrm>
            <a:off x="457200" y="3566160"/>
            <a:ext cx="5486400" cy="365760"/>
          </a:xfrm>
          <a:prstGeom prst="rect">
            <a:avLst/>
          </a:prstGeom>
          <a:noFill/>
        </p:spPr>
        <p:txBody>
          <a:bodyPr wrap="square" lIns="45720" rIns="45720" tIns="18288" bIns="18288" anchor="t">
            <a:spAutoFit/>
          </a:bodyPr>
          <a:lstStyle/>
          <a:p>
            <a:pPr algn="l"/>
            <a:r>
              <a:rPr sz="1800" b="1">
                <a:solidFill>
                  <a:srgbClr val="2E7D32"/>
                </a:solidFill>
                <a:latin typeface="Calibri"/>
              </a:rPr>
              <a:t>Hold Reasons</a:t>
            </a:r>
          </a:p>
        </p:txBody>
      </p:sp>
      <p:sp>
        <p:nvSpPr>
          <p:cNvPr id="9" name="TextBox 8"/>
          <p:cNvSpPr txBox="1"/>
          <p:nvPr/>
        </p:nvSpPr>
        <p:spPr>
          <a:xfrm>
            <a:off x="640080" y="4023360"/>
            <a:ext cx="5486400" cy="2286000"/>
          </a:xfrm>
          <a:prstGeom prst="rect">
            <a:avLst/>
          </a:prstGeom>
          <a:noFill/>
        </p:spPr>
        <p:txBody>
          <a:bodyPr wrap="square" lIns="45720" rIns="45720">
            <a:spAutoFit/>
          </a:bodyPr>
          <a:lstStyle/>
          <a:p>
            <a:pPr>
              <a:spcAft>
                <a:spcPts val="600"/>
              </a:spcAft>
            </a:pPr>
            <a:r>
              <a:rPr sz="1500">
                <a:solidFill>
                  <a:srgbClr val="555555"/>
                </a:solidFill>
                <a:latin typeface="Calibri"/>
              </a:rPr>
              <a:t>•  Ownership Change</a:t>
            </a:r>
          </a:p>
          <a:p>
            <a:pPr>
              <a:spcAft>
                <a:spcPts val="600"/>
              </a:spcAft>
            </a:pPr>
            <a:r>
              <a:rPr sz="1500">
                <a:solidFill>
                  <a:srgbClr val="555555"/>
                </a:solidFill>
                <a:latin typeface="Calibri"/>
              </a:rPr>
              <a:t>•  Budget or Timing</a:t>
            </a:r>
          </a:p>
          <a:p>
            <a:pPr>
              <a:spcAft>
                <a:spcPts val="600"/>
              </a:spcAft>
            </a:pPr>
            <a:r>
              <a:rPr sz="1500">
                <a:solidFill>
                  <a:srgbClr val="555555"/>
                </a:solidFill>
                <a:latin typeface="Calibri"/>
              </a:rPr>
              <a:t>•  Pending Legal Review</a:t>
            </a:r>
          </a:p>
          <a:p>
            <a:pPr>
              <a:spcAft>
                <a:spcPts val="600"/>
              </a:spcAft>
            </a:pPr>
            <a:r>
              <a:rPr sz="1500">
                <a:solidFill>
                  <a:srgbClr val="555555"/>
                </a:solidFill>
                <a:latin typeface="Calibri"/>
              </a:rPr>
              <a:t>•  Market Conditions</a:t>
            </a:r>
          </a:p>
          <a:p>
            <a:pPr>
              <a:spcAft>
                <a:spcPts val="600"/>
              </a:spcAft>
            </a:pPr>
            <a:r>
              <a:rPr sz="1500">
                <a:solidFill>
                  <a:srgbClr val="555555"/>
                </a:solidFill>
                <a:latin typeface="Calibri"/>
              </a:rPr>
              <a:t>•  Other</a:t>
            </a:r>
          </a:p>
        </p:txBody>
      </p:sp>
      <p:sp>
        <p:nvSpPr>
          <p:cNvPr id="10" name="TextBox 9"/>
          <p:cNvSpPr txBox="1"/>
          <p:nvPr/>
        </p:nvSpPr>
        <p:spPr>
          <a:xfrm>
            <a:off x="6400800" y="3566160"/>
            <a:ext cx="5486400" cy="365760"/>
          </a:xfrm>
          <a:prstGeom prst="rect">
            <a:avLst/>
          </a:prstGeom>
          <a:noFill/>
        </p:spPr>
        <p:txBody>
          <a:bodyPr wrap="square" lIns="45720" rIns="45720" tIns="18288" bIns="18288" anchor="t">
            <a:spAutoFit/>
          </a:bodyPr>
          <a:lstStyle/>
          <a:p>
            <a:pPr algn="l"/>
            <a:r>
              <a:rPr sz="1800" b="1">
                <a:solidFill>
                  <a:srgbClr val="2E7D32"/>
                </a:solidFill>
                <a:latin typeface="Calibri"/>
              </a:rPr>
              <a:t>Loss Reasons</a:t>
            </a:r>
          </a:p>
        </p:txBody>
      </p:sp>
      <p:sp>
        <p:nvSpPr>
          <p:cNvPr id="11" name="TextBox 10"/>
          <p:cNvSpPr txBox="1"/>
          <p:nvPr/>
        </p:nvSpPr>
        <p:spPr>
          <a:xfrm>
            <a:off x="6583680" y="4023360"/>
            <a:ext cx="5486400" cy="2286000"/>
          </a:xfrm>
          <a:prstGeom prst="rect">
            <a:avLst/>
          </a:prstGeom>
          <a:noFill/>
        </p:spPr>
        <p:txBody>
          <a:bodyPr wrap="square" lIns="45720" rIns="45720">
            <a:spAutoFit/>
          </a:bodyPr>
          <a:lstStyle/>
          <a:p>
            <a:pPr>
              <a:spcAft>
                <a:spcPts val="600"/>
              </a:spcAft>
            </a:pPr>
            <a:r>
              <a:rPr sz="1500">
                <a:solidFill>
                  <a:srgbClr val="555555"/>
                </a:solidFill>
                <a:latin typeface="Calibri"/>
              </a:rPr>
              <a:t>•  Existing Fiber (most common)</a:t>
            </a:r>
          </a:p>
          <a:p>
            <a:pPr>
              <a:spcAft>
                <a:spcPts val="600"/>
              </a:spcAft>
            </a:pPr>
            <a:r>
              <a:rPr sz="1500">
                <a:solidFill>
                  <a:srgbClr val="555555"/>
                </a:solidFill>
                <a:latin typeface="Calibri"/>
              </a:rPr>
              <a:t>•  Existing Contract</a:t>
            </a:r>
          </a:p>
          <a:p>
            <a:pPr>
              <a:spcAft>
                <a:spcPts val="600"/>
              </a:spcAft>
            </a:pPr>
            <a:r>
              <a:rPr sz="1500">
                <a:solidFill>
                  <a:srgbClr val="555555"/>
                </a:solidFill>
                <a:latin typeface="Calibri"/>
              </a:rPr>
              <a:t>•  Not Interested</a:t>
            </a:r>
          </a:p>
          <a:p>
            <a:pPr>
              <a:spcAft>
                <a:spcPts val="600"/>
              </a:spcAft>
            </a:pPr>
            <a:r>
              <a:rPr sz="1500">
                <a:solidFill>
                  <a:srgbClr val="555555"/>
                </a:solidFill>
                <a:latin typeface="Calibri"/>
              </a:rPr>
              <a:t>•  No Contact Info</a:t>
            </a:r>
          </a:p>
          <a:p>
            <a:pPr>
              <a:spcAft>
                <a:spcPts val="600"/>
              </a:spcAft>
            </a:pPr>
            <a:r>
              <a:rPr sz="1500">
                <a:solidFill>
                  <a:srgbClr val="555555"/>
                </a:solidFill>
                <a:latin typeface="Calibri"/>
              </a:rPr>
              <a:t>•  Chose Another Provider</a:t>
            </a:r>
          </a:p>
          <a:p>
            <a:pPr>
              <a:spcAft>
                <a:spcPts val="600"/>
              </a:spcAft>
            </a:pPr>
            <a:r>
              <a:rPr sz="1500">
                <a:solidFill>
                  <a:srgbClr val="555555"/>
                </a:solidFill>
                <a:latin typeface="Calibri"/>
              </a:rPr>
              <a:t>•  Unserviceable</a:t>
            </a:r>
          </a:p>
          <a:p>
            <a:pPr>
              <a:spcAft>
                <a:spcPts val="600"/>
              </a:spcAft>
            </a:pPr>
            <a:r>
              <a:rPr sz="1500">
                <a:solidFill>
                  <a:srgbClr val="555555"/>
                </a:solidFill>
                <a:latin typeface="Calibri"/>
              </a:rPr>
              <a:t>•  Other</a:t>
            </a:r>
          </a:p>
        </p:txBody>
      </p:sp>
      <p:sp>
        <p:nvSpPr>
          <p:cNvPr id="12" name="TextBox 11"/>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3" name="TextBox 12"/>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4</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Stage lifecycle (visual)</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11247120" cy="457200"/>
          </a:xfrm>
          <a:prstGeom prst="rect">
            <a:avLst/>
          </a:prstGeom>
          <a:noFill/>
        </p:spPr>
        <p:txBody>
          <a:bodyPr wrap="square" lIns="45720" rIns="45720" tIns="18288" bIns="18288" anchor="t">
            <a:spAutoFit/>
          </a:bodyPr>
          <a:lstStyle/>
          <a:p>
            <a:pPr algn="l"/>
            <a:r>
              <a:rPr sz="1400" b="0">
                <a:solidFill>
                  <a:srgbClr val="555555"/>
                </a:solidFill>
                <a:latin typeface="Calibri"/>
              </a:rPr>
              <a:t>Main path along the top. On Hold and Closed Lost are off-ramps from any active stage.</a:t>
            </a:r>
          </a:p>
        </p:txBody>
      </p:sp>
      <p:pic>
        <p:nvPicPr>
          <p:cNvPr id="7" name="Picture 6" descr="_diagram_lifecycle.png"/>
          <p:cNvPicPr>
            <a:picLocks noChangeAspect="1"/>
          </p:cNvPicPr>
          <p:nvPr/>
        </p:nvPicPr>
        <p:blipFill>
          <a:blip r:embed="rId2"/>
          <a:stretch>
            <a:fillRect/>
          </a:stretch>
        </p:blipFill>
        <p:spPr>
          <a:xfrm>
            <a:off x="1371600" y="1828800"/>
            <a:ext cx="9418320" cy="5931476"/>
          </a:xfrm>
          <a:prstGeom prst="rect">
            <a:avLst/>
          </a:prstGeom>
        </p:spPr>
      </p:pic>
      <p:sp>
        <p:nvSpPr>
          <p:cNvPr id="8" name="TextBox 7"/>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9" name="TextBox 8"/>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2743200" cy="3200400"/>
          </a:xfrm>
          <a:prstGeom prst="rect">
            <a:avLst/>
          </a:prstGeom>
          <a:noFill/>
        </p:spPr>
        <p:txBody>
          <a:bodyPr wrap="square" lIns="45720" rIns="45720" tIns="18288" bIns="18288" anchor="t">
            <a:spAutoFit/>
          </a:bodyPr>
          <a:lstStyle/>
          <a:p>
            <a:pPr algn="l"/>
            <a:r>
              <a:rPr sz="18000" b="1">
                <a:solidFill>
                  <a:srgbClr val="2E7D32"/>
                </a:solidFill>
                <a:latin typeface="Calibri"/>
              </a:rPr>
              <a:t>05</a:t>
            </a:r>
          </a:p>
        </p:txBody>
      </p:sp>
      <p:sp>
        <p:nvSpPr>
          <p:cNvPr id="4" name="TextBox 3"/>
          <p:cNvSpPr txBox="1"/>
          <p:nvPr/>
        </p:nvSpPr>
        <p:spPr>
          <a:xfrm>
            <a:off x="3657600" y="2377440"/>
            <a:ext cx="7955279" cy="914400"/>
          </a:xfrm>
          <a:prstGeom prst="rect">
            <a:avLst/>
          </a:prstGeom>
          <a:noFill/>
        </p:spPr>
        <p:txBody>
          <a:bodyPr wrap="square" lIns="45720" rIns="45720" tIns="18288" bIns="18288" anchor="t">
            <a:spAutoFit/>
          </a:bodyPr>
          <a:lstStyle/>
          <a:p>
            <a:pPr algn="l"/>
            <a:r>
              <a:rPr sz="4400" b="1">
                <a:solidFill>
                  <a:srgbClr val="FFFFFF"/>
                </a:solidFill>
                <a:latin typeface="Calibri"/>
              </a:rPr>
              <a:t>Daily workflows</a:t>
            </a:r>
          </a:p>
        </p:txBody>
      </p:sp>
      <p:sp>
        <p:nvSpPr>
          <p:cNvPr id="5" name="TextBox 4"/>
          <p:cNvSpPr txBox="1"/>
          <p:nvPr/>
        </p:nvSpPr>
        <p:spPr>
          <a:xfrm>
            <a:off x="3657600" y="3383280"/>
            <a:ext cx="7955279" cy="1828800"/>
          </a:xfrm>
          <a:prstGeom prst="rect">
            <a:avLst/>
          </a:prstGeom>
          <a:noFill/>
        </p:spPr>
        <p:txBody>
          <a:bodyPr wrap="square" lIns="45720" rIns="45720" tIns="18288" bIns="18288" anchor="t">
            <a:spAutoFit/>
          </a:bodyPr>
          <a:lstStyle/>
          <a:p>
            <a:pPr algn="l"/>
            <a:r>
              <a:rPr sz="1800" b="0">
                <a:solidFill>
                  <a:srgbClr val="E8EEF7"/>
                </a:solidFill>
                <a:latin typeface="Calibri"/>
              </a:rPr>
              <a:t>Step by step for the seven things you will do most often.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5</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5.1  Create a new Opportunity</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972800" cy="4114800"/>
          </a:xfrm>
          <a:prstGeom prst="rect">
            <a:avLst/>
          </a:prstGeom>
          <a:noFill/>
        </p:spPr>
        <p:txBody>
          <a:bodyPr wrap="square">
            <a:spAutoFit/>
          </a:bodyPr>
          <a:lstStyle/>
          <a:p>
            <a:pPr>
              <a:spcAft>
                <a:spcPts val="600"/>
              </a:spcAft>
            </a:pPr>
            <a:r>
              <a:rPr sz="1700">
                <a:solidFill>
                  <a:srgbClr val="555555"/>
                </a:solidFill>
                <a:latin typeface="Calibri"/>
              </a:rPr>
              <a:t>1.  Opportunities tab, click New.</a:t>
            </a:r>
          </a:p>
          <a:p>
            <a:pPr>
              <a:spcAft>
                <a:spcPts val="600"/>
              </a:spcAft>
            </a:pPr>
            <a:r>
              <a:rPr sz="1700">
                <a:solidFill>
                  <a:srgbClr val="555555"/>
                </a:solidFill>
                <a:latin typeface="Calibri"/>
              </a:rPr>
              <a:t>2.  Pick the MDU record type.</a:t>
            </a:r>
          </a:p>
          <a:p>
            <a:pPr>
              <a:spcAft>
                <a:spcPts val="600"/>
              </a:spcAft>
            </a:pPr>
            <a:r>
              <a:rPr sz="1700">
                <a:solidFill>
                  <a:srgbClr val="555555"/>
                </a:solidFill>
                <a:latin typeface="Calibri"/>
              </a:rPr>
              <a:t>3.  Fill basics: Name (use property name), Account, Stage, Projected Close Date.</a:t>
            </a:r>
          </a:p>
          <a:p>
            <a:pPr>
              <a:spcAft>
                <a:spcPts val="600"/>
              </a:spcAft>
            </a:pPr>
            <a:r>
              <a:rPr sz="1700">
                <a:solidFill>
                  <a:srgbClr val="555555"/>
                </a:solidFill>
                <a:latin typeface="Calibri"/>
              </a:rPr>
              <a:t>4.  Property Details: Units, Property Type, City, State, Zip (required).</a:t>
            </a:r>
          </a:p>
          <a:p>
            <a:pPr>
              <a:spcAft>
                <a:spcPts val="600"/>
              </a:spcAft>
            </a:pPr>
            <a:r>
              <a:rPr sz="1700">
                <a:solidFill>
                  <a:srgbClr val="555555"/>
                </a:solidFill>
                <a:latin typeface="Calibri"/>
              </a:rPr>
              <a:t>5.  If Stage is Prospecting, set a Sales Status.</a:t>
            </a:r>
          </a:p>
          <a:p>
            <a:pPr>
              <a:spcAft>
                <a:spcPts val="600"/>
              </a:spcAft>
            </a:pPr>
            <a:r>
              <a:rPr sz="1700">
                <a:solidFill>
                  <a:srgbClr val="555555"/>
                </a:solidFill>
                <a:latin typeface="Calibri"/>
              </a:rPr>
              <a:t>6.  Save. Start logging notes and adding contacts.</a:t>
            </a:r>
          </a:p>
        </p:txBody>
      </p:sp>
      <p:sp>
        <p:nvSpPr>
          <p:cNvPr id="7" name="Rectangle 6"/>
          <p:cNvSpPr/>
          <p:nvPr/>
        </p:nvSpPr>
        <p:spPr>
          <a:xfrm>
            <a:off x="457200" y="5212080"/>
            <a:ext cx="11247120" cy="914400"/>
          </a:xfrm>
          <a:prstGeom prst="rect">
            <a:avLst/>
          </a:prstGeom>
          <a:solidFill>
            <a:srgbClr val="F5F8FD"/>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212080"/>
            <a:ext cx="10972800" cy="365760"/>
          </a:xfrm>
          <a:prstGeom prst="rect">
            <a:avLst/>
          </a:prstGeom>
          <a:noFill/>
        </p:spPr>
        <p:txBody>
          <a:bodyPr wrap="square" lIns="45720" rIns="45720" tIns="18288" bIns="18288" anchor="ctr">
            <a:spAutoFit/>
          </a:bodyPr>
          <a:lstStyle/>
          <a:p>
            <a:pPr algn="l"/>
            <a:r>
              <a:rPr sz="1200" b="1">
                <a:solidFill>
                  <a:srgbClr val="2E7D32"/>
                </a:solidFill>
                <a:latin typeface="Calibri"/>
              </a:rPr>
              <a:t>Tip</a:t>
            </a:r>
          </a:p>
        </p:txBody>
      </p:sp>
      <p:sp>
        <p:nvSpPr>
          <p:cNvPr id="9" name="TextBox 8"/>
          <p:cNvSpPr txBox="1"/>
          <p:nvPr/>
        </p:nvSpPr>
        <p:spPr>
          <a:xfrm>
            <a:off x="640080" y="5486400"/>
            <a:ext cx="10972800" cy="640080"/>
          </a:xfrm>
          <a:prstGeom prst="rect">
            <a:avLst/>
          </a:prstGeom>
          <a:noFill/>
        </p:spPr>
        <p:txBody>
          <a:bodyPr wrap="square" lIns="45720" rIns="45720" tIns="18288" bIns="18288" anchor="t">
            <a:spAutoFit/>
          </a:bodyPr>
          <a:lstStyle/>
          <a:p>
            <a:pPr algn="l"/>
            <a:r>
              <a:rPr sz="1400" b="0">
                <a:solidFill>
                  <a:srgbClr val="555555"/>
                </a:solidFill>
                <a:latin typeface="Calibri"/>
              </a:rPr>
              <a:t>Naming: property name first, units second when ambiguous (e.g. "Olympus Waterford 25").</a:t>
            </a:r>
          </a:p>
        </p:txBody>
      </p:sp>
      <p:sp>
        <p:nvSpPr>
          <p:cNvPr id="10" name="TextBox 9"/>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1" name="TextBox 10"/>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5</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5.2  Log a note</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972800" cy="4114800"/>
          </a:xfrm>
          <a:prstGeom prst="rect">
            <a:avLst/>
          </a:prstGeom>
          <a:noFill/>
        </p:spPr>
        <p:txBody>
          <a:bodyPr wrap="square">
            <a:spAutoFit/>
          </a:bodyPr>
          <a:lstStyle/>
          <a:p>
            <a:pPr>
              <a:spcAft>
                <a:spcPts val="600"/>
              </a:spcAft>
            </a:pPr>
            <a:r>
              <a:rPr sz="1700">
                <a:solidFill>
                  <a:srgbClr val="555555"/>
                </a:solidFill>
                <a:latin typeface="Calibri"/>
              </a:rPr>
              <a:t>1.  Open the Opportunity.</a:t>
            </a:r>
          </a:p>
          <a:p>
            <a:pPr>
              <a:spcAft>
                <a:spcPts val="600"/>
              </a:spcAft>
            </a:pPr>
            <a:r>
              <a:rPr sz="1700">
                <a:solidFill>
                  <a:srgbClr val="555555"/>
                </a:solidFill>
                <a:latin typeface="Calibri"/>
              </a:rPr>
              <a:t>2.  Notes related list (left sidebar), click New.</a:t>
            </a:r>
          </a:p>
          <a:p>
            <a:pPr>
              <a:spcAft>
                <a:spcPts val="600"/>
              </a:spcAft>
            </a:pPr>
            <a:r>
              <a:rPr sz="1700">
                <a:solidFill>
                  <a:srgbClr val="555555"/>
                </a:solidFill>
                <a:latin typeface="Calibri"/>
              </a:rPr>
              <a:t>3.  Short title, write the note, save.</a:t>
            </a:r>
          </a:p>
          <a:p>
            <a:pPr>
              <a:spcAft>
                <a:spcPts val="600"/>
              </a:spcAft>
            </a:pPr>
            <a:r>
              <a:rPr sz="1700">
                <a:solidFill>
                  <a:srgbClr val="555555"/>
                </a:solidFill>
                <a:latin typeface="Calibri"/>
              </a:rPr>
              <a:t>4.  Newest note shows on top.</a:t>
            </a:r>
          </a:p>
        </p:txBody>
      </p:sp>
      <p:sp>
        <p:nvSpPr>
          <p:cNvPr id="7" name="Rectangle 6"/>
          <p:cNvSpPr/>
          <p:nvPr/>
        </p:nvSpPr>
        <p:spPr>
          <a:xfrm>
            <a:off x="457200" y="5212080"/>
            <a:ext cx="11247120" cy="914400"/>
          </a:xfrm>
          <a:prstGeom prst="rect">
            <a:avLst/>
          </a:prstGeom>
          <a:solidFill>
            <a:srgbClr val="F5F8FD"/>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212080"/>
            <a:ext cx="10972800" cy="365760"/>
          </a:xfrm>
          <a:prstGeom prst="rect">
            <a:avLst/>
          </a:prstGeom>
          <a:noFill/>
        </p:spPr>
        <p:txBody>
          <a:bodyPr wrap="square" lIns="45720" rIns="45720" tIns="18288" bIns="18288" anchor="ctr">
            <a:spAutoFit/>
          </a:bodyPr>
          <a:lstStyle/>
          <a:p>
            <a:pPr algn="l"/>
            <a:r>
              <a:rPr sz="1200" b="1">
                <a:solidFill>
                  <a:srgbClr val="2E7D32"/>
                </a:solidFill>
                <a:latin typeface="Calibri"/>
              </a:rPr>
              <a:t>Tip</a:t>
            </a:r>
          </a:p>
        </p:txBody>
      </p:sp>
      <p:sp>
        <p:nvSpPr>
          <p:cNvPr id="9" name="TextBox 8"/>
          <p:cNvSpPr txBox="1"/>
          <p:nvPr/>
        </p:nvSpPr>
        <p:spPr>
          <a:xfrm>
            <a:off x="640080" y="5486400"/>
            <a:ext cx="10972800" cy="640080"/>
          </a:xfrm>
          <a:prstGeom prst="rect">
            <a:avLst/>
          </a:prstGeom>
          <a:noFill/>
        </p:spPr>
        <p:txBody>
          <a:bodyPr wrap="square" lIns="45720" rIns="45720" tIns="18288" bIns="18288" anchor="t">
            <a:spAutoFit/>
          </a:bodyPr>
          <a:lstStyle/>
          <a:p>
            <a:pPr algn="l"/>
            <a:r>
              <a:rPr sz="1400" b="0">
                <a:solidFill>
                  <a:srgbClr val="555555"/>
                </a:solidFill>
                <a:latin typeface="Calibri"/>
              </a:rPr>
              <a:t>If a teammate opens this Opp in 6 months, the Notes should tell the story.</a:t>
            </a:r>
          </a:p>
        </p:txBody>
      </p:sp>
      <p:sp>
        <p:nvSpPr>
          <p:cNvPr id="10" name="TextBox 9"/>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1" name="TextBox 10"/>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5</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5.3  Add a Contact</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972800" cy="4114800"/>
          </a:xfrm>
          <a:prstGeom prst="rect">
            <a:avLst/>
          </a:prstGeom>
          <a:noFill/>
        </p:spPr>
        <p:txBody>
          <a:bodyPr wrap="square">
            <a:spAutoFit/>
          </a:bodyPr>
          <a:lstStyle/>
          <a:p>
            <a:pPr>
              <a:spcAft>
                <a:spcPts val="600"/>
              </a:spcAft>
            </a:pPr>
            <a:r>
              <a:rPr sz="1700">
                <a:solidFill>
                  <a:srgbClr val="555555"/>
                </a:solidFill>
                <a:latin typeface="Calibri"/>
              </a:rPr>
              <a:t>1.  Open the Opportunity.</a:t>
            </a:r>
          </a:p>
          <a:p>
            <a:pPr>
              <a:spcAft>
                <a:spcPts val="600"/>
              </a:spcAft>
            </a:pPr>
            <a:r>
              <a:rPr sz="1700">
                <a:solidFill>
                  <a:srgbClr val="555555"/>
                </a:solidFill>
                <a:latin typeface="Calibri"/>
              </a:rPr>
              <a:t>2.  Contacts related list (left sidebar), click New.</a:t>
            </a:r>
          </a:p>
          <a:p>
            <a:pPr>
              <a:spcAft>
                <a:spcPts val="600"/>
              </a:spcAft>
            </a:pPr>
            <a:r>
              <a:rPr sz="1700">
                <a:solidFill>
                  <a:srgbClr val="555555"/>
                </a:solidFill>
                <a:latin typeface="Calibri"/>
              </a:rPr>
              <a:t>3.  Search for the Contact. Reuse existing records, do not duplicate.</a:t>
            </a:r>
          </a:p>
          <a:p>
            <a:pPr>
              <a:spcAft>
                <a:spcPts val="600"/>
              </a:spcAft>
            </a:pPr>
            <a:r>
              <a:rPr sz="1700">
                <a:solidFill>
                  <a:srgbClr val="555555"/>
                </a:solidFill>
                <a:latin typeface="Calibri"/>
              </a:rPr>
              <a:t>4.  Set Role: PM, Owner, Leasing, HOA, GC, Developer, Legal, Broker, Other.</a:t>
            </a:r>
          </a:p>
          <a:p>
            <a:pPr>
              <a:spcAft>
                <a:spcPts val="600"/>
              </a:spcAft>
            </a:pPr>
            <a:r>
              <a:rPr sz="1700">
                <a:solidFill>
                  <a:srgbClr val="555555"/>
                </a:solidFill>
                <a:latin typeface="Calibri"/>
              </a:rPr>
              <a:t>5.  Save.</a:t>
            </a:r>
          </a:p>
        </p:txBody>
      </p:sp>
      <p:sp>
        <p:nvSpPr>
          <p:cNvPr id="7" name="Rectangle 6"/>
          <p:cNvSpPr/>
          <p:nvPr/>
        </p:nvSpPr>
        <p:spPr>
          <a:xfrm>
            <a:off x="457200" y="5212080"/>
            <a:ext cx="11247120" cy="914400"/>
          </a:xfrm>
          <a:prstGeom prst="rect">
            <a:avLst/>
          </a:prstGeom>
          <a:solidFill>
            <a:srgbClr val="F5F8FD"/>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212080"/>
            <a:ext cx="10972800" cy="365760"/>
          </a:xfrm>
          <a:prstGeom prst="rect">
            <a:avLst/>
          </a:prstGeom>
          <a:noFill/>
        </p:spPr>
        <p:txBody>
          <a:bodyPr wrap="square" lIns="45720" rIns="45720" tIns="18288" bIns="18288" anchor="ctr">
            <a:spAutoFit/>
          </a:bodyPr>
          <a:lstStyle/>
          <a:p>
            <a:pPr algn="l"/>
            <a:r>
              <a:rPr sz="1200" b="1">
                <a:solidFill>
                  <a:srgbClr val="2E7D32"/>
                </a:solidFill>
                <a:latin typeface="Calibri"/>
              </a:rPr>
              <a:t>Tip</a:t>
            </a:r>
          </a:p>
        </p:txBody>
      </p:sp>
      <p:sp>
        <p:nvSpPr>
          <p:cNvPr id="9" name="TextBox 8"/>
          <p:cNvSpPr txBox="1"/>
          <p:nvPr/>
        </p:nvSpPr>
        <p:spPr>
          <a:xfrm>
            <a:off x="640080" y="5486400"/>
            <a:ext cx="10972800" cy="640080"/>
          </a:xfrm>
          <a:prstGeom prst="rect">
            <a:avLst/>
          </a:prstGeom>
          <a:noFill/>
        </p:spPr>
        <p:txBody>
          <a:bodyPr wrap="square" lIns="45720" rIns="45720" tIns="18288" bIns="18288" anchor="t">
            <a:spAutoFit/>
          </a:bodyPr>
          <a:lstStyle/>
          <a:p>
            <a:pPr algn="l"/>
            <a:r>
              <a:rPr sz="1400" b="0">
                <a:solidFill>
                  <a:srgbClr val="555555"/>
                </a:solidFill>
                <a:latin typeface="Calibri"/>
              </a:rPr>
              <a:t>If the Contact does not exist yet, create it from the Contacts tab first, then link.</a:t>
            </a:r>
          </a:p>
        </p:txBody>
      </p:sp>
      <p:sp>
        <p:nvSpPr>
          <p:cNvPr id="10" name="TextBox 9"/>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1" name="TextBox 10"/>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5</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5.4  Create an Agreement</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972800" cy="4114800"/>
          </a:xfrm>
          <a:prstGeom prst="rect">
            <a:avLst/>
          </a:prstGeom>
          <a:noFill/>
        </p:spPr>
        <p:txBody>
          <a:bodyPr wrap="square">
            <a:spAutoFit/>
          </a:bodyPr>
          <a:lstStyle/>
          <a:p>
            <a:pPr>
              <a:spcAft>
                <a:spcPts val="600"/>
              </a:spcAft>
            </a:pPr>
            <a:r>
              <a:rPr sz="1700">
                <a:solidFill>
                  <a:srgbClr val="555555"/>
                </a:solidFill>
                <a:latin typeface="Calibri"/>
              </a:rPr>
              <a:t>1.  Open the Opportunity.</a:t>
            </a:r>
          </a:p>
          <a:p>
            <a:pPr>
              <a:spcAft>
                <a:spcPts val="600"/>
              </a:spcAft>
            </a:pPr>
            <a:r>
              <a:rPr sz="1700">
                <a:solidFill>
                  <a:srgbClr val="555555"/>
                </a:solidFill>
                <a:latin typeface="Calibri"/>
              </a:rPr>
              <a:t>2.  Agreements related list, click New.</a:t>
            </a:r>
          </a:p>
          <a:p>
            <a:pPr>
              <a:spcAft>
                <a:spcPts val="600"/>
              </a:spcAft>
            </a:pPr>
            <a:r>
              <a:rPr sz="1700">
                <a:solidFill>
                  <a:srgbClr val="555555"/>
                </a:solidFill>
                <a:latin typeface="Calibri"/>
              </a:rPr>
              <a:t>3.  Pick Agreement Type (PAL, ROE, EMA, Bulk, NEMA, etc.).</a:t>
            </a:r>
          </a:p>
          <a:p>
            <a:pPr>
              <a:spcAft>
                <a:spcPts val="600"/>
              </a:spcAft>
            </a:pPr>
            <a:r>
              <a:rPr sz="1700">
                <a:solidFill>
                  <a:srgbClr val="555555"/>
                </a:solidFill>
                <a:latin typeface="Calibri"/>
              </a:rPr>
              <a:t>4.  Set Status (start at Create).</a:t>
            </a:r>
          </a:p>
          <a:p>
            <a:pPr>
              <a:spcAft>
                <a:spcPts val="600"/>
              </a:spcAft>
            </a:pPr>
            <a:r>
              <a:rPr sz="1700">
                <a:solidFill>
                  <a:srgbClr val="555555"/>
                </a:solidFill>
                <a:latin typeface="Calibri"/>
              </a:rPr>
              <a:t>5.  Set Requested Date when it goes out.</a:t>
            </a:r>
          </a:p>
          <a:p>
            <a:pPr>
              <a:spcAft>
                <a:spcPts val="600"/>
              </a:spcAft>
            </a:pPr>
            <a:r>
              <a:rPr sz="1700">
                <a:solidFill>
                  <a:srgbClr val="555555"/>
                </a:solidFill>
                <a:latin typeface="Calibri"/>
              </a:rPr>
              <a:t>6.  Set Signer + Signed Date when it lands.</a:t>
            </a:r>
          </a:p>
          <a:p>
            <a:pPr>
              <a:spcAft>
                <a:spcPts val="600"/>
              </a:spcAft>
            </a:pPr>
            <a:r>
              <a:rPr sz="1700">
                <a:solidFill>
                  <a:srgbClr val="555555"/>
                </a:solidFill>
                <a:latin typeface="Calibri"/>
              </a:rPr>
              <a:t>7.  Add IronClad ID if you have one.</a:t>
            </a:r>
          </a:p>
        </p:txBody>
      </p:sp>
      <p:sp>
        <p:nvSpPr>
          <p:cNvPr id="7" name="Rectangle 6"/>
          <p:cNvSpPr/>
          <p:nvPr/>
        </p:nvSpPr>
        <p:spPr>
          <a:xfrm>
            <a:off x="457200" y="5212080"/>
            <a:ext cx="11247120" cy="914400"/>
          </a:xfrm>
          <a:prstGeom prst="rect">
            <a:avLst/>
          </a:prstGeom>
          <a:solidFill>
            <a:srgbClr val="F5F8FD"/>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212080"/>
            <a:ext cx="10972800" cy="365760"/>
          </a:xfrm>
          <a:prstGeom prst="rect">
            <a:avLst/>
          </a:prstGeom>
          <a:noFill/>
        </p:spPr>
        <p:txBody>
          <a:bodyPr wrap="square" lIns="45720" rIns="45720" tIns="18288" bIns="18288" anchor="ctr">
            <a:spAutoFit/>
          </a:bodyPr>
          <a:lstStyle/>
          <a:p>
            <a:pPr algn="l"/>
            <a:r>
              <a:rPr sz="1200" b="1">
                <a:solidFill>
                  <a:srgbClr val="2E7D32"/>
                </a:solidFill>
                <a:latin typeface="Calibri"/>
              </a:rPr>
              <a:t>Tip</a:t>
            </a:r>
          </a:p>
        </p:txBody>
      </p:sp>
      <p:sp>
        <p:nvSpPr>
          <p:cNvPr id="9" name="TextBox 8"/>
          <p:cNvSpPr txBox="1"/>
          <p:nvPr/>
        </p:nvSpPr>
        <p:spPr>
          <a:xfrm>
            <a:off x="640080" y="5486400"/>
            <a:ext cx="10972800" cy="640080"/>
          </a:xfrm>
          <a:prstGeom prst="rect">
            <a:avLst/>
          </a:prstGeom>
          <a:noFill/>
        </p:spPr>
        <p:txBody>
          <a:bodyPr wrap="square" lIns="45720" rIns="45720" tIns="18288" bIns="18288" anchor="t">
            <a:spAutoFit/>
          </a:bodyPr>
          <a:lstStyle/>
          <a:p>
            <a:pPr algn="l"/>
            <a:r>
              <a:rPr sz="1400" b="0">
                <a:solidFill>
                  <a:srgbClr val="555555"/>
                </a:solidFill>
                <a:latin typeface="Calibri"/>
              </a:rPr>
              <a:t>PAL is the gateway. Nothing real happens on a property until the PAL is signed.</a:t>
            </a:r>
          </a:p>
        </p:txBody>
      </p:sp>
      <p:sp>
        <p:nvSpPr>
          <p:cNvPr id="10" name="TextBox 9"/>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1" name="TextBox 10"/>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5</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5.5  Move to Under Contract</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972800" cy="4114800"/>
          </a:xfrm>
          <a:prstGeom prst="rect">
            <a:avLst/>
          </a:prstGeom>
          <a:noFill/>
        </p:spPr>
        <p:txBody>
          <a:bodyPr wrap="square">
            <a:spAutoFit/>
          </a:bodyPr>
          <a:lstStyle/>
          <a:p>
            <a:pPr>
              <a:spcAft>
                <a:spcPts val="600"/>
              </a:spcAft>
            </a:pPr>
            <a:r>
              <a:rPr sz="1700">
                <a:solidFill>
                  <a:srgbClr val="555555"/>
                </a:solidFill>
                <a:latin typeface="Calibri"/>
              </a:rPr>
              <a:t>1.  PAL Agreement Status set to Sign or Completed with Signed Date.</a:t>
            </a:r>
          </a:p>
          <a:p>
            <a:pPr>
              <a:spcAft>
                <a:spcPts val="600"/>
              </a:spcAft>
            </a:pPr>
            <a:r>
              <a:rPr sz="1700">
                <a:solidFill>
                  <a:srgbClr val="555555"/>
                </a:solidFill>
                <a:latin typeface="Calibri"/>
              </a:rPr>
              <a:t>2.  On the Opportunity, change Stage to Under Contract.</a:t>
            </a:r>
          </a:p>
          <a:p>
            <a:pPr>
              <a:spcAft>
                <a:spcPts val="600"/>
              </a:spcAft>
            </a:pPr>
            <a:r>
              <a:rPr sz="1700">
                <a:solidFill>
                  <a:srgbClr val="555555"/>
                </a:solidFill>
                <a:latin typeface="Calibri"/>
              </a:rPr>
              <a:t>3.  Probability auto-sets to 100%.</a:t>
            </a:r>
          </a:p>
          <a:p>
            <a:pPr>
              <a:spcAft>
                <a:spcPts val="600"/>
              </a:spcAft>
            </a:pPr>
            <a:r>
              <a:rPr sz="1700">
                <a:solidFill>
                  <a:srgbClr val="555555"/>
                </a:solidFill>
                <a:latin typeface="Calibri"/>
              </a:rPr>
              <a:t>4.  Build progress now lives in SiteTracker.</a:t>
            </a:r>
          </a:p>
        </p:txBody>
      </p:sp>
      <p:sp>
        <p:nvSpPr>
          <p:cNvPr id="7" name="Rectangle 6"/>
          <p:cNvSpPr/>
          <p:nvPr/>
        </p:nvSpPr>
        <p:spPr>
          <a:xfrm>
            <a:off x="457200" y="5212080"/>
            <a:ext cx="11247120" cy="914400"/>
          </a:xfrm>
          <a:prstGeom prst="rect">
            <a:avLst/>
          </a:prstGeom>
          <a:solidFill>
            <a:srgbClr val="F5F8FD"/>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212080"/>
            <a:ext cx="10972800" cy="365760"/>
          </a:xfrm>
          <a:prstGeom prst="rect">
            <a:avLst/>
          </a:prstGeom>
          <a:noFill/>
        </p:spPr>
        <p:txBody>
          <a:bodyPr wrap="square" lIns="45720" rIns="45720" tIns="18288" bIns="18288" anchor="ctr">
            <a:spAutoFit/>
          </a:bodyPr>
          <a:lstStyle/>
          <a:p>
            <a:pPr algn="l"/>
            <a:r>
              <a:rPr sz="1200" b="1">
                <a:solidFill>
                  <a:srgbClr val="2E7D32"/>
                </a:solidFill>
                <a:latin typeface="Calibri"/>
              </a:rPr>
              <a:t>Tip</a:t>
            </a:r>
          </a:p>
        </p:txBody>
      </p:sp>
      <p:sp>
        <p:nvSpPr>
          <p:cNvPr id="9" name="TextBox 8"/>
          <p:cNvSpPr txBox="1"/>
          <p:nvPr/>
        </p:nvSpPr>
        <p:spPr>
          <a:xfrm>
            <a:off x="640080" y="5486400"/>
            <a:ext cx="10972800" cy="640080"/>
          </a:xfrm>
          <a:prstGeom prst="rect">
            <a:avLst/>
          </a:prstGeom>
          <a:noFill/>
        </p:spPr>
        <p:txBody>
          <a:bodyPr wrap="square" lIns="45720" rIns="45720" tIns="18288" bIns="18288" anchor="t">
            <a:spAutoFit/>
          </a:bodyPr>
          <a:lstStyle/>
          <a:p>
            <a:pPr algn="l"/>
            <a:r>
              <a:rPr sz="1400" b="0">
                <a:solidFill>
                  <a:srgbClr val="555555"/>
                </a:solidFill>
                <a:latin typeface="Calibri"/>
              </a:rPr>
              <a:t>Once Under Contract, the Opp does not change stage again unless something goes wrong.</a:t>
            </a:r>
          </a:p>
        </p:txBody>
      </p:sp>
      <p:sp>
        <p:nvSpPr>
          <p:cNvPr id="10" name="TextBox 9"/>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1" name="TextBox 10"/>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5</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5.6  Put on Hold</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972800" cy="4114800"/>
          </a:xfrm>
          <a:prstGeom prst="rect">
            <a:avLst/>
          </a:prstGeom>
          <a:noFill/>
        </p:spPr>
        <p:txBody>
          <a:bodyPr wrap="square">
            <a:spAutoFit/>
          </a:bodyPr>
          <a:lstStyle/>
          <a:p>
            <a:pPr>
              <a:spcAft>
                <a:spcPts val="600"/>
              </a:spcAft>
            </a:pPr>
            <a:r>
              <a:rPr sz="1700">
                <a:solidFill>
                  <a:srgbClr val="555555"/>
                </a:solidFill>
                <a:latin typeface="Calibri"/>
              </a:rPr>
              <a:t>1.  Open the Opportunity.</a:t>
            </a:r>
          </a:p>
          <a:p>
            <a:pPr>
              <a:spcAft>
                <a:spcPts val="600"/>
              </a:spcAft>
            </a:pPr>
            <a:r>
              <a:rPr sz="1700">
                <a:solidFill>
                  <a:srgbClr val="555555"/>
                </a:solidFill>
                <a:latin typeface="Calibri"/>
              </a:rPr>
              <a:t>2.  Change Stage to On Hold.</a:t>
            </a:r>
          </a:p>
          <a:p>
            <a:pPr>
              <a:spcAft>
                <a:spcPts val="600"/>
              </a:spcAft>
            </a:pPr>
            <a:r>
              <a:rPr sz="1700">
                <a:solidFill>
                  <a:srgbClr val="555555"/>
                </a:solidFill>
                <a:latin typeface="Calibri"/>
              </a:rPr>
              <a:t>3.  Set Hold Reason (required).</a:t>
            </a:r>
          </a:p>
          <a:p>
            <a:pPr>
              <a:spcAft>
                <a:spcPts val="600"/>
              </a:spcAft>
            </a:pPr>
            <a:r>
              <a:rPr sz="1700">
                <a:solidFill>
                  <a:srgbClr val="555555"/>
                </a:solidFill>
                <a:latin typeface="Calibri"/>
              </a:rPr>
              <a:t>4.  Add a Note: who paused it, when to revisit.</a:t>
            </a:r>
          </a:p>
          <a:p>
            <a:pPr>
              <a:spcAft>
                <a:spcPts val="600"/>
              </a:spcAft>
            </a:pPr>
            <a:r>
              <a:rPr sz="1700">
                <a:solidFill>
                  <a:srgbClr val="555555"/>
                </a:solidFill>
                <a:latin typeface="Calibri"/>
              </a:rPr>
              <a:t>5.  Save.</a:t>
            </a:r>
          </a:p>
        </p:txBody>
      </p:sp>
      <p:sp>
        <p:nvSpPr>
          <p:cNvPr id="7" name="Rectangle 6"/>
          <p:cNvSpPr/>
          <p:nvPr/>
        </p:nvSpPr>
        <p:spPr>
          <a:xfrm>
            <a:off x="457200" y="5212080"/>
            <a:ext cx="11247120" cy="914400"/>
          </a:xfrm>
          <a:prstGeom prst="rect">
            <a:avLst/>
          </a:prstGeom>
          <a:solidFill>
            <a:srgbClr val="F5F8FD"/>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212080"/>
            <a:ext cx="10972800" cy="365760"/>
          </a:xfrm>
          <a:prstGeom prst="rect">
            <a:avLst/>
          </a:prstGeom>
          <a:noFill/>
        </p:spPr>
        <p:txBody>
          <a:bodyPr wrap="square" lIns="45720" rIns="45720" tIns="18288" bIns="18288" anchor="ctr">
            <a:spAutoFit/>
          </a:bodyPr>
          <a:lstStyle/>
          <a:p>
            <a:pPr algn="l"/>
            <a:r>
              <a:rPr sz="1200" b="1">
                <a:solidFill>
                  <a:srgbClr val="2E7D32"/>
                </a:solidFill>
                <a:latin typeface="Calibri"/>
              </a:rPr>
              <a:t>Tip</a:t>
            </a:r>
          </a:p>
        </p:txBody>
      </p:sp>
      <p:sp>
        <p:nvSpPr>
          <p:cNvPr id="9" name="TextBox 8"/>
          <p:cNvSpPr txBox="1"/>
          <p:nvPr/>
        </p:nvSpPr>
        <p:spPr>
          <a:xfrm>
            <a:off x="640080" y="5486400"/>
            <a:ext cx="10972800" cy="640080"/>
          </a:xfrm>
          <a:prstGeom prst="rect">
            <a:avLst/>
          </a:prstGeom>
          <a:noFill/>
        </p:spPr>
        <p:txBody>
          <a:bodyPr wrap="square" lIns="45720" rIns="45720" tIns="18288" bIns="18288" anchor="t">
            <a:spAutoFit/>
          </a:bodyPr>
          <a:lstStyle/>
          <a:p>
            <a:pPr algn="l"/>
            <a:r>
              <a:rPr sz="1400" b="0">
                <a:solidFill>
                  <a:srgbClr val="555555"/>
                </a:solidFill>
                <a:latin typeface="Calibri"/>
              </a:rPr>
              <a:t>On Hold is reversible. Use it for real pauses, not stalled outreach.</a:t>
            </a:r>
          </a:p>
        </p:txBody>
      </p:sp>
      <p:sp>
        <p:nvSpPr>
          <p:cNvPr id="10" name="TextBox 9"/>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1" name="TextBox 10"/>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5</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5.7  Close as Lost</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972800" cy="4114800"/>
          </a:xfrm>
          <a:prstGeom prst="rect">
            <a:avLst/>
          </a:prstGeom>
          <a:noFill/>
        </p:spPr>
        <p:txBody>
          <a:bodyPr wrap="square">
            <a:spAutoFit/>
          </a:bodyPr>
          <a:lstStyle/>
          <a:p>
            <a:pPr>
              <a:spcAft>
                <a:spcPts val="600"/>
              </a:spcAft>
            </a:pPr>
            <a:r>
              <a:rPr sz="1700">
                <a:solidFill>
                  <a:srgbClr val="555555"/>
                </a:solidFill>
                <a:latin typeface="Calibri"/>
              </a:rPr>
              <a:t>1.  Open the Opportunity.</a:t>
            </a:r>
          </a:p>
          <a:p>
            <a:pPr>
              <a:spcAft>
                <a:spcPts val="600"/>
              </a:spcAft>
            </a:pPr>
            <a:r>
              <a:rPr sz="1700">
                <a:solidFill>
                  <a:srgbClr val="555555"/>
                </a:solidFill>
                <a:latin typeface="Calibri"/>
              </a:rPr>
              <a:t>2.  Change Stage to Closed Lost.</a:t>
            </a:r>
          </a:p>
          <a:p>
            <a:pPr>
              <a:spcAft>
                <a:spcPts val="600"/>
              </a:spcAft>
            </a:pPr>
            <a:r>
              <a:rPr sz="1700">
                <a:solidFill>
                  <a:srgbClr val="555555"/>
                </a:solidFill>
                <a:latin typeface="Calibri"/>
              </a:rPr>
              <a:t>3.  Set Loss Reason (required).</a:t>
            </a:r>
          </a:p>
          <a:p>
            <a:pPr>
              <a:spcAft>
                <a:spcPts val="600"/>
              </a:spcAft>
            </a:pPr>
            <a:r>
              <a:rPr sz="1700">
                <a:solidFill>
                  <a:srgbClr val="555555"/>
                </a:solidFill>
                <a:latin typeface="Calibri"/>
              </a:rPr>
              <a:t>4.  Add a Note with detail.</a:t>
            </a:r>
          </a:p>
          <a:p>
            <a:pPr>
              <a:spcAft>
                <a:spcPts val="600"/>
              </a:spcAft>
            </a:pPr>
            <a:r>
              <a:rPr sz="1700">
                <a:solidFill>
                  <a:srgbClr val="555555"/>
                </a:solidFill>
                <a:latin typeface="Calibri"/>
              </a:rPr>
              <a:t>5.  Save.</a:t>
            </a:r>
          </a:p>
        </p:txBody>
      </p:sp>
      <p:sp>
        <p:nvSpPr>
          <p:cNvPr id="7" name="Rectangle 6"/>
          <p:cNvSpPr/>
          <p:nvPr/>
        </p:nvSpPr>
        <p:spPr>
          <a:xfrm>
            <a:off x="457200" y="5212080"/>
            <a:ext cx="11247120" cy="914400"/>
          </a:xfrm>
          <a:prstGeom prst="rect">
            <a:avLst/>
          </a:prstGeom>
          <a:solidFill>
            <a:srgbClr val="F5F8FD"/>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212080"/>
            <a:ext cx="10972800" cy="365760"/>
          </a:xfrm>
          <a:prstGeom prst="rect">
            <a:avLst/>
          </a:prstGeom>
          <a:noFill/>
        </p:spPr>
        <p:txBody>
          <a:bodyPr wrap="square" lIns="45720" rIns="45720" tIns="18288" bIns="18288" anchor="ctr">
            <a:spAutoFit/>
          </a:bodyPr>
          <a:lstStyle/>
          <a:p>
            <a:pPr algn="l"/>
            <a:r>
              <a:rPr sz="1200" b="1">
                <a:solidFill>
                  <a:srgbClr val="2E7D32"/>
                </a:solidFill>
                <a:latin typeface="Calibri"/>
              </a:rPr>
              <a:t>Tip</a:t>
            </a:r>
          </a:p>
        </p:txBody>
      </p:sp>
      <p:sp>
        <p:nvSpPr>
          <p:cNvPr id="9" name="TextBox 8"/>
          <p:cNvSpPr txBox="1"/>
          <p:nvPr/>
        </p:nvSpPr>
        <p:spPr>
          <a:xfrm>
            <a:off x="640080" y="5486400"/>
            <a:ext cx="10972800" cy="640080"/>
          </a:xfrm>
          <a:prstGeom prst="rect">
            <a:avLst/>
          </a:prstGeom>
          <a:noFill/>
        </p:spPr>
        <p:txBody>
          <a:bodyPr wrap="square" lIns="45720" rIns="45720" tIns="18288" bIns="18288" anchor="t">
            <a:spAutoFit/>
          </a:bodyPr>
          <a:lstStyle/>
          <a:p>
            <a:pPr algn="l"/>
            <a:r>
              <a:rPr sz="1400" b="0">
                <a:solidFill>
                  <a:srgbClr val="555555"/>
                </a:solidFill>
                <a:latin typeface="Calibri"/>
              </a:rPr>
              <a:t>99% of MDU losses are existing fiber. That is fine. Just record it.</a:t>
            </a:r>
          </a:p>
        </p:txBody>
      </p:sp>
      <p:sp>
        <p:nvSpPr>
          <p:cNvPr id="10" name="TextBox 9"/>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1" name="TextBox 10"/>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2743200" cy="3200400"/>
          </a:xfrm>
          <a:prstGeom prst="rect">
            <a:avLst/>
          </a:prstGeom>
          <a:noFill/>
        </p:spPr>
        <p:txBody>
          <a:bodyPr wrap="square" lIns="45720" rIns="45720" tIns="18288" bIns="18288" anchor="t">
            <a:spAutoFit/>
          </a:bodyPr>
          <a:lstStyle/>
          <a:p>
            <a:pPr algn="l"/>
            <a:r>
              <a:rPr sz="18000" b="1">
                <a:solidFill>
                  <a:srgbClr val="2E7D32"/>
                </a:solidFill>
                <a:latin typeface="Calibri"/>
              </a:rPr>
              <a:t>06</a:t>
            </a:r>
          </a:p>
        </p:txBody>
      </p:sp>
      <p:sp>
        <p:nvSpPr>
          <p:cNvPr id="4" name="TextBox 3"/>
          <p:cNvSpPr txBox="1"/>
          <p:nvPr/>
        </p:nvSpPr>
        <p:spPr>
          <a:xfrm>
            <a:off x="3657600" y="2377440"/>
            <a:ext cx="7955279" cy="914400"/>
          </a:xfrm>
          <a:prstGeom prst="rect">
            <a:avLst/>
          </a:prstGeom>
          <a:noFill/>
        </p:spPr>
        <p:txBody>
          <a:bodyPr wrap="square" lIns="45720" rIns="45720" tIns="18288" bIns="18288" anchor="t">
            <a:spAutoFit/>
          </a:bodyPr>
          <a:lstStyle/>
          <a:p>
            <a:pPr algn="l"/>
            <a:r>
              <a:rPr sz="4400" b="1">
                <a:solidFill>
                  <a:srgbClr val="FFFFFF"/>
                </a:solidFill>
                <a:latin typeface="Calibri"/>
              </a:rPr>
              <a:t>Agreements</a:t>
            </a:r>
          </a:p>
        </p:txBody>
      </p:sp>
      <p:sp>
        <p:nvSpPr>
          <p:cNvPr id="5" name="TextBox 4"/>
          <p:cNvSpPr txBox="1"/>
          <p:nvPr/>
        </p:nvSpPr>
        <p:spPr>
          <a:xfrm>
            <a:off x="3657600" y="3383280"/>
            <a:ext cx="7955279" cy="1828800"/>
          </a:xfrm>
          <a:prstGeom prst="rect">
            <a:avLst/>
          </a:prstGeom>
          <a:noFill/>
        </p:spPr>
        <p:txBody>
          <a:bodyPr wrap="square" lIns="45720" rIns="45720" tIns="18288" bIns="18288" anchor="t">
            <a:spAutoFit/>
          </a:bodyPr>
          <a:lstStyle/>
          <a:p>
            <a:pPr algn="l"/>
            <a:r>
              <a:rPr sz="1800" b="0">
                <a:solidFill>
                  <a:srgbClr val="E8EEF7"/>
                </a:solidFill>
                <a:latin typeface="Calibri"/>
              </a:rPr>
              <a:t>Each Opportunity has its own track of agreements. Most properties end up with several.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6</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Agreement types</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371600"/>
          <a:ext cx="11247120" cy="4572000"/>
        </p:xfrm>
        <a:graphic>
          <a:graphicData uri="http://schemas.openxmlformats.org/drawingml/2006/table">
            <a:tbl>
              <a:tblPr firstRow="1" bandRow="1">
                <a:tableStyleId>{5C22544A-7EE6-4342-B048-85BDC9FD1C3A}</a:tableStyleId>
              </a:tblPr>
              <a:tblGrid>
                <a:gridCol w="5623560"/>
                <a:gridCol w="5623560"/>
              </a:tblGrid>
              <a:tr h="508000">
                <a:tc>
                  <a:txBody>
                    <a:bodyPr/>
                    <a:lstStyle/>
                    <a:p>
                      <a:r>
                        <a:rPr sz="1400" b="1">
                          <a:solidFill>
                            <a:srgbClr val="FFFFFF"/>
                          </a:solidFill>
                          <a:latin typeface="Calibri"/>
                        </a:rPr>
                        <a:t>Type</a:t>
                      </a:r>
                    </a:p>
                  </a:txBody>
                  <a:tcPr>
                    <a:solidFill>
                      <a:srgbClr val="1F3A68"/>
                    </a:solidFill>
                  </a:tcPr>
                </a:tc>
                <a:tc>
                  <a:txBody>
                    <a:bodyPr/>
                    <a:lstStyle/>
                    <a:p>
                      <a:r>
                        <a:rPr sz="1400" b="1">
                          <a:solidFill>
                            <a:srgbClr val="FFFFFF"/>
                          </a:solidFill>
                          <a:latin typeface="Calibri"/>
                        </a:rPr>
                        <a:t>What it does</a:t>
                      </a:r>
                    </a:p>
                  </a:txBody>
                  <a:tcPr>
                    <a:solidFill>
                      <a:srgbClr val="1F3A68"/>
                    </a:solidFill>
                  </a:tcPr>
                </a:tc>
              </a:tr>
              <a:tr h="508000">
                <a:tc>
                  <a:txBody>
                    <a:bodyPr wrap="square"/>
                    <a:lstStyle/>
                    <a:p>
                      <a:r>
                        <a:rPr sz="1200">
                          <a:solidFill>
                            <a:srgbClr val="555555"/>
                          </a:solidFill>
                          <a:latin typeface="Calibri"/>
                        </a:rPr>
                        <a:t>PAL</a:t>
                      </a:r>
                    </a:p>
                  </a:txBody>
                  <a:tcPr>
                    <a:solidFill>
                      <a:srgbClr val="F5F8FD"/>
                    </a:solidFill>
                  </a:tcPr>
                </a:tc>
                <a:tc>
                  <a:txBody>
                    <a:bodyPr wrap="square"/>
                    <a:lstStyle/>
                    <a:p>
                      <a:r>
                        <a:rPr sz="1200">
                          <a:solidFill>
                            <a:srgbClr val="555555"/>
                          </a:solidFill>
                          <a:latin typeface="Calibri"/>
                        </a:rPr>
                        <a:t>Property Access License. Gateway agreement. Required before engineering.</a:t>
                      </a:r>
                    </a:p>
                  </a:txBody>
                  <a:tcPr>
                    <a:solidFill>
                      <a:srgbClr val="F5F8FD"/>
                    </a:solidFill>
                  </a:tcPr>
                </a:tc>
              </a:tr>
              <a:tr h="508000">
                <a:tc>
                  <a:txBody>
                    <a:bodyPr wrap="square"/>
                    <a:lstStyle/>
                    <a:p>
                      <a:r>
                        <a:rPr sz="1200">
                          <a:solidFill>
                            <a:srgbClr val="555555"/>
                          </a:solidFill>
                          <a:latin typeface="Calibri"/>
                        </a:rPr>
                        <a:t>ROE</a:t>
                      </a:r>
                    </a:p>
                  </a:txBody>
                  <a:tcPr>
                    <a:solidFill>
                      <a:srgbClr val="FFFFFF"/>
                    </a:solidFill>
                  </a:tcPr>
                </a:tc>
                <a:tc>
                  <a:txBody>
                    <a:bodyPr wrap="square"/>
                    <a:lstStyle/>
                    <a:p>
                      <a:r>
                        <a:rPr sz="1200">
                          <a:solidFill>
                            <a:srgbClr val="555555"/>
                          </a:solidFill>
                          <a:latin typeface="Calibri"/>
                        </a:rPr>
                        <a:t>Right of Entry. Physical access to the property for survey and build.</a:t>
                      </a:r>
                    </a:p>
                  </a:txBody>
                  <a:tcPr>
                    <a:solidFill>
                      <a:srgbClr val="FFFFFF"/>
                    </a:solidFill>
                  </a:tcPr>
                </a:tc>
              </a:tr>
              <a:tr h="508000">
                <a:tc>
                  <a:txBody>
                    <a:bodyPr wrap="square"/>
                    <a:lstStyle/>
                    <a:p>
                      <a:r>
                        <a:rPr sz="1200">
                          <a:solidFill>
                            <a:srgbClr val="555555"/>
                          </a:solidFill>
                          <a:latin typeface="Calibri"/>
                        </a:rPr>
                        <a:t>EMA</a:t>
                      </a:r>
                    </a:p>
                  </a:txBody>
                  <a:tcPr>
                    <a:solidFill>
                      <a:srgbClr val="F5F8FD"/>
                    </a:solidFill>
                  </a:tcPr>
                </a:tc>
                <a:tc>
                  <a:txBody>
                    <a:bodyPr wrap="square"/>
                    <a:lstStyle/>
                    <a:p>
                      <a:r>
                        <a:rPr sz="1200">
                          <a:solidFill>
                            <a:srgbClr val="555555"/>
                          </a:solidFill>
                          <a:latin typeface="Calibri"/>
                        </a:rPr>
                        <a:t>Easement / marketing access. Often parallel to PAL.</a:t>
                      </a:r>
                    </a:p>
                  </a:txBody>
                  <a:tcPr>
                    <a:solidFill>
                      <a:srgbClr val="F5F8FD"/>
                    </a:solidFill>
                  </a:tcPr>
                </a:tc>
              </a:tr>
              <a:tr h="508000">
                <a:tc>
                  <a:txBody>
                    <a:bodyPr wrap="square"/>
                    <a:lstStyle/>
                    <a:p>
                      <a:r>
                        <a:rPr sz="1200">
                          <a:solidFill>
                            <a:srgbClr val="555555"/>
                          </a:solidFill>
                          <a:latin typeface="Calibri"/>
                        </a:rPr>
                        <a:t>Bulk</a:t>
                      </a:r>
                    </a:p>
                  </a:txBody>
                  <a:tcPr>
                    <a:solidFill>
                      <a:srgbClr val="FFFFFF"/>
                    </a:solidFill>
                  </a:tcPr>
                </a:tc>
                <a:tc>
                  <a:txBody>
                    <a:bodyPr wrap="square"/>
                    <a:lstStyle/>
                    <a:p>
                      <a:r>
                        <a:rPr sz="1200">
                          <a:solidFill>
                            <a:srgbClr val="555555"/>
                          </a:solidFill>
                          <a:latin typeface="Calibri"/>
                        </a:rPr>
                        <a:t>Bulk service agreement when the property is paying for all units.</a:t>
                      </a:r>
                    </a:p>
                  </a:txBody>
                  <a:tcPr>
                    <a:solidFill>
                      <a:srgbClr val="FFFFFF"/>
                    </a:solidFill>
                  </a:tcPr>
                </a:tc>
              </a:tr>
              <a:tr h="508000">
                <a:tc>
                  <a:txBody>
                    <a:bodyPr wrap="square"/>
                    <a:lstStyle/>
                    <a:p>
                      <a:r>
                        <a:rPr sz="1200">
                          <a:solidFill>
                            <a:srgbClr val="555555"/>
                          </a:solidFill>
                          <a:latin typeface="Calibri"/>
                        </a:rPr>
                        <a:t>NEMA</a:t>
                      </a:r>
                    </a:p>
                  </a:txBody>
                  <a:tcPr>
                    <a:solidFill>
                      <a:srgbClr val="F5F8FD"/>
                    </a:solidFill>
                  </a:tcPr>
                </a:tc>
                <a:tc>
                  <a:txBody>
                    <a:bodyPr wrap="square"/>
                    <a:lstStyle/>
                    <a:p>
                      <a:r>
                        <a:rPr sz="1200">
                          <a:solidFill>
                            <a:srgbClr val="555555"/>
                          </a:solidFill>
                          <a:latin typeface="Calibri"/>
                        </a:rPr>
                        <a:t>Non-exclusive marketing agreement.</a:t>
                      </a:r>
                    </a:p>
                  </a:txBody>
                  <a:tcPr>
                    <a:solidFill>
                      <a:srgbClr val="F5F8FD"/>
                    </a:solidFill>
                  </a:tcPr>
                </a:tc>
              </a:tr>
              <a:tr h="508000">
                <a:tc>
                  <a:txBody>
                    <a:bodyPr wrap="square"/>
                    <a:lstStyle/>
                    <a:p>
                      <a:r>
                        <a:rPr sz="1200">
                          <a:solidFill>
                            <a:srgbClr val="555555"/>
                          </a:solidFill>
                          <a:latin typeface="Calibri"/>
                        </a:rPr>
                        <a:t>PAL Addendum</a:t>
                      </a:r>
                    </a:p>
                  </a:txBody>
                  <a:tcPr>
                    <a:solidFill>
                      <a:srgbClr val="FFFFFF"/>
                    </a:solidFill>
                  </a:tcPr>
                </a:tc>
                <a:tc>
                  <a:txBody>
                    <a:bodyPr wrap="square"/>
                    <a:lstStyle/>
                    <a:p>
                      <a:r>
                        <a:rPr sz="1200">
                          <a:solidFill>
                            <a:srgbClr val="555555"/>
                          </a:solidFill>
                          <a:latin typeface="Calibri"/>
                        </a:rPr>
                        <a:t>Modification to an existing PAL.</a:t>
                      </a:r>
                    </a:p>
                  </a:txBody>
                  <a:tcPr>
                    <a:solidFill>
                      <a:srgbClr val="FFFFFF"/>
                    </a:solidFill>
                  </a:tcPr>
                </a:tc>
              </a:tr>
              <a:tr h="508000">
                <a:tc>
                  <a:txBody>
                    <a:bodyPr wrap="square"/>
                    <a:lstStyle/>
                    <a:p>
                      <a:r>
                        <a:rPr sz="1200">
                          <a:solidFill>
                            <a:srgbClr val="555555"/>
                          </a:solidFill>
                          <a:latin typeface="Calibri"/>
                        </a:rPr>
                        <a:t>MSA Addendum</a:t>
                      </a:r>
                    </a:p>
                  </a:txBody>
                  <a:tcPr>
                    <a:solidFill>
                      <a:srgbClr val="F5F8FD"/>
                    </a:solidFill>
                  </a:tcPr>
                </a:tc>
                <a:tc>
                  <a:txBody>
                    <a:bodyPr wrap="square"/>
                    <a:lstStyle/>
                    <a:p>
                      <a:r>
                        <a:rPr sz="1200">
                          <a:solidFill>
                            <a:srgbClr val="555555"/>
                          </a:solidFill>
                          <a:latin typeface="Calibri"/>
                        </a:rPr>
                        <a:t>Modification to a master services agreement.</a:t>
                      </a:r>
                    </a:p>
                  </a:txBody>
                  <a:tcPr>
                    <a:solidFill>
                      <a:srgbClr val="F5F8FD"/>
                    </a:solidFill>
                  </a:tcPr>
                </a:tc>
              </a:tr>
              <a:tr h="508000">
                <a:tc>
                  <a:txBody>
                    <a:bodyPr wrap="square"/>
                    <a:lstStyle/>
                    <a:p>
                      <a:r>
                        <a:rPr sz="1200">
                          <a:solidFill>
                            <a:srgbClr val="555555"/>
                          </a:solidFill>
                          <a:latin typeface="Calibri"/>
                        </a:rPr>
                        <a:t>2nd ISP NEMA</a:t>
                      </a:r>
                    </a:p>
                  </a:txBody>
                  <a:tcPr>
                    <a:solidFill>
                      <a:srgbClr val="FFFFFF"/>
                    </a:solidFill>
                  </a:tcPr>
                </a:tc>
                <a:tc>
                  <a:txBody>
                    <a:bodyPr wrap="square"/>
                    <a:lstStyle/>
                    <a:p>
                      <a:r>
                        <a:rPr sz="1200">
                          <a:solidFill>
                            <a:srgbClr val="555555"/>
                          </a:solidFill>
                          <a:latin typeface="Calibri"/>
                        </a:rPr>
                        <a:t>When a second ISP is also marketing on the property.</a:t>
                      </a:r>
                    </a:p>
                  </a:txBody>
                  <a:tcPr>
                    <a:solidFill>
                      <a:srgbClr val="FFFFFF"/>
                    </a:solidFill>
                  </a:tcPr>
                </a:tc>
              </a:tr>
            </a:tbl>
          </a:graphicData>
        </a:graphic>
      </p:graphicFrame>
      <p:sp>
        <p:nvSpPr>
          <p:cNvPr id="7" name="TextBox 6"/>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8" name="TextBox 7"/>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6</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Status flow + IronClad</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457200"/>
          </a:xfrm>
          <a:prstGeom prst="rect">
            <a:avLst/>
          </a:prstGeom>
          <a:noFill/>
        </p:spPr>
        <p:txBody>
          <a:bodyPr wrap="square" lIns="45720" rIns="45720" tIns="18288" bIns="18288" anchor="t">
            <a:spAutoFit/>
          </a:bodyPr>
          <a:lstStyle/>
          <a:p>
            <a:pPr algn="l"/>
            <a:r>
              <a:rPr sz="1800" b="0">
                <a:solidFill>
                  <a:srgbClr val="555555"/>
                </a:solidFill>
                <a:latin typeface="Calibri"/>
              </a:rPr>
              <a:t>Status flow (aligned to IronClad)</a:t>
            </a:r>
          </a:p>
        </p:txBody>
      </p:sp>
      <p:sp>
        <p:nvSpPr>
          <p:cNvPr id="7" name="TextBox 6"/>
          <p:cNvSpPr txBox="1"/>
          <p:nvPr/>
        </p:nvSpPr>
        <p:spPr>
          <a:xfrm>
            <a:off x="640080" y="1920240"/>
            <a:ext cx="10972800" cy="3200400"/>
          </a:xfrm>
          <a:prstGeom prst="rect">
            <a:avLst/>
          </a:prstGeom>
          <a:noFill/>
        </p:spPr>
        <p:txBody>
          <a:bodyPr wrap="square" lIns="45720" rIns="45720">
            <a:spAutoFit/>
          </a:bodyPr>
          <a:lstStyle/>
          <a:p>
            <a:pPr>
              <a:spcAft>
                <a:spcPts val="600"/>
              </a:spcAft>
            </a:pPr>
            <a:r>
              <a:rPr sz="1500" b="1">
                <a:solidFill>
                  <a:srgbClr val="1F3A68"/>
                </a:solidFill>
                <a:latin typeface="Calibri"/>
              </a:rPr>
              <a:t>•  Create: </a:t>
            </a:r>
            <a:r>
              <a:rPr sz="1500">
                <a:solidFill>
                  <a:srgbClr val="555555"/>
                </a:solidFill>
                <a:latin typeface="Calibri"/>
              </a:rPr>
              <a:t>drafting in progress on our side.</a:t>
            </a:r>
          </a:p>
          <a:p>
            <a:pPr>
              <a:spcAft>
                <a:spcPts val="600"/>
              </a:spcAft>
            </a:pPr>
            <a:r>
              <a:rPr sz="1500" b="1">
                <a:solidFill>
                  <a:srgbClr val="1F3A68"/>
                </a:solidFill>
                <a:latin typeface="Calibri"/>
              </a:rPr>
              <a:t>•  Review: </a:t>
            </a:r>
            <a:r>
              <a:rPr sz="1500">
                <a:solidFill>
                  <a:srgbClr val="555555"/>
                </a:solidFill>
                <a:latin typeface="Calibri"/>
              </a:rPr>
              <a:t>out for internal or counterparty review.</a:t>
            </a:r>
          </a:p>
          <a:p>
            <a:pPr>
              <a:spcAft>
                <a:spcPts val="600"/>
              </a:spcAft>
            </a:pPr>
            <a:r>
              <a:rPr sz="1500" b="1">
                <a:solidFill>
                  <a:srgbClr val="1F3A68"/>
                </a:solidFill>
                <a:latin typeface="Calibri"/>
              </a:rPr>
              <a:t>•  Sign: </a:t>
            </a:r>
            <a:r>
              <a:rPr sz="1500">
                <a:solidFill>
                  <a:srgbClr val="555555"/>
                </a:solidFill>
                <a:latin typeface="Calibri"/>
              </a:rPr>
              <a:t>signature collection underway.</a:t>
            </a:r>
          </a:p>
          <a:p>
            <a:pPr>
              <a:spcAft>
                <a:spcPts val="600"/>
              </a:spcAft>
            </a:pPr>
            <a:r>
              <a:rPr sz="1500" b="1">
                <a:solidFill>
                  <a:srgbClr val="1F3A68"/>
                </a:solidFill>
                <a:latin typeface="Calibri"/>
              </a:rPr>
              <a:t>•  Completed: </a:t>
            </a:r>
            <a:r>
              <a:rPr sz="1500">
                <a:solidFill>
                  <a:srgbClr val="555555"/>
                </a:solidFill>
                <a:latin typeface="Calibri"/>
              </a:rPr>
              <a:t>fully executed.</a:t>
            </a:r>
          </a:p>
          <a:p>
            <a:pPr>
              <a:spcAft>
                <a:spcPts val="600"/>
              </a:spcAft>
            </a:pPr>
            <a:r>
              <a:rPr sz="1500" b="1">
                <a:solidFill>
                  <a:srgbClr val="1F3A68"/>
                </a:solidFill>
                <a:latin typeface="Calibri"/>
              </a:rPr>
              <a:t>•  Archive: </a:t>
            </a:r>
            <a:r>
              <a:rPr sz="1500">
                <a:solidFill>
                  <a:srgbClr val="555555"/>
                </a:solidFill>
                <a:latin typeface="Calibri"/>
              </a:rPr>
              <a:t>completed and filed.</a:t>
            </a:r>
          </a:p>
          <a:p>
            <a:pPr>
              <a:spcAft>
                <a:spcPts val="600"/>
              </a:spcAft>
            </a:pPr>
            <a:r>
              <a:rPr sz="1500" b="1">
                <a:solidFill>
                  <a:srgbClr val="1F3A68"/>
                </a:solidFill>
                <a:latin typeface="Calibri"/>
              </a:rPr>
              <a:t>•  Paused: </a:t>
            </a:r>
            <a:r>
              <a:rPr sz="1500">
                <a:solidFill>
                  <a:srgbClr val="555555"/>
                </a:solidFill>
                <a:latin typeface="Calibri"/>
              </a:rPr>
              <a:t>stalled, waiting on something external.</a:t>
            </a:r>
          </a:p>
          <a:p>
            <a:pPr>
              <a:spcAft>
                <a:spcPts val="600"/>
              </a:spcAft>
            </a:pPr>
            <a:r>
              <a:rPr sz="1500" b="1">
                <a:solidFill>
                  <a:srgbClr val="1F3A68"/>
                </a:solidFill>
                <a:latin typeface="Calibri"/>
              </a:rPr>
              <a:t>•  Cancelled: </a:t>
            </a:r>
            <a:r>
              <a:rPr sz="1500">
                <a:solidFill>
                  <a:srgbClr val="555555"/>
                </a:solidFill>
                <a:latin typeface="Calibri"/>
              </a:rPr>
              <a:t>will not happen.</a:t>
            </a:r>
          </a:p>
        </p:txBody>
      </p:sp>
      <p:sp>
        <p:nvSpPr>
          <p:cNvPr id="8" name="TextBox 7"/>
          <p:cNvSpPr txBox="1"/>
          <p:nvPr/>
        </p:nvSpPr>
        <p:spPr>
          <a:xfrm>
            <a:off x="457200" y="5120640"/>
            <a:ext cx="11247120" cy="457200"/>
          </a:xfrm>
          <a:prstGeom prst="rect">
            <a:avLst/>
          </a:prstGeom>
          <a:noFill/>
        </p:spPr>
        <p:txBody>
          <a:bodyPr wrap="square" lIns="45720" rIns="45720" tIns="18288" bIns="18288" anchor="t">
            <a:spAutoFit/>
          </a:bodyPr>
          <a:lstStyle/>
          <a:p>
            <a:pPr algn="l"/>
            <a:r>
              <a:rPr sz="1800" b="1">
                <a:solidFill>
                  <a:srgbClr val="2E7D32"/>
                </a:solidFill>
                <a:latin typeface="Calibri"/>
              </a:rPr>
              <a:t>IronClad ID</a:t>
            </a:r>
          </a:p>
        </p:txBody>
      </p:sp>
      <p:sp>
        <p:nvSpPr>
          <p:cNvPr id="9" name="TextBox 8"/>
          <p:cNvSpPr txBox="1"/>
          <p:nvPr/>
        </p:nvSpPr>
        <p:spPr>
          <a:xfrm>
            <a:off x="640080" y="5486400"/>
            <a:ext cx="10972800" cy="914400"/>
          </a:xfrm>
          <a:prstGeom prst="rect">
            <a:avLst/>
          </a:prstGeom>
          <a:noFill/>
        </p:spPr>
        <p:txBody>
          <a:bodyPr wrap="square" lIns="45720" rIns="45720" tIns="18288" bIns="18288" anchor="t">
            <a:spAutoFit/>
          </a:bodyPr>
          <a:lstStyle/>
          <a:p>
            <a:pPr algn="l"/>
            <a:r>
              <a:rPr sz="1400" b="0">
                <a:solidFill>
                  <a:srgbClr val="555555"/>
                </a:solidFill>
                <a:latin typeface="Calibri"/>
              </a:rPr>
              <a:t>Populate it when you have it. Going forward, Agreements with no IronClad ID show on a cleanup report. Treat it as the audit trail.</a:t>
            </a:r>
          </a:p>
        </p:txBody>
      </p:sp>
      <p:sp>
        <p:nvSpPr>
          <p:cNvPr id="10" name="TextBox 9"/>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1" name="TextBox 10"/>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2743200" cy="3200400"/>
          </a:xfrm>
          <a:prstGeom prst="rect">
            <a:avLst/>
          </a:prstGeom>
          <a:noFill/>
        </p:spPr>
        <p:txBody>
          <a:bodyPr wrap="square" lIns="45720" rIns="45720" tIns="18288" bIns="18288" anchor="t">
            <a:spAutoFit/>
          </a:bodyPr>
          <a:lstStyle/>
          <a:p>
            <a:pPr algn="l"/>
            <a:r>
              <a:rPr sz="18000" b="1">
                <a:solidFill>
                  <a:srgbClr val="2E7D32"/>
                </a:solidFill>
                <a:latin typeface="Calibri"/>
              </a:rPr>
              <a:t>07</a:t>
            </a:r>
          </a:p>
        </p:txBody>
      </p:sp>
      <p:sp>
        <p:nvSpPr>
          <p:cNvPr id="4" name="TextBox 3"/>
          <p:cNvSpPr txBox="1"/>
          <p:nvPr/>
        </p:nvSpPr>
        <p:spPr>
          <a:xfrm>
            <a:off x="3657600" y="2377440"/>
            <a:ext cx="7955279" cy="914400"/>
          </a:xfrm>
          <a:prstGeom prst="rect">
            <a:avLst/>
          </a:prstGeom>
          <a:noFill/>
        </p:spPr>
        <p:txBody>
          <a:bodyPr wrap="square" lIns="45720" rIns="45720" tIns="18288" bIns="18288" anchor="t">
            <a:spAutoFit/>
          </a:bodyPr>
          <a:lstStyle/>
          <a:p>
            <a:pPr algn="l"/>
            <a:r>
              <a:rPr sz="4400" b="1">
                <a:solidFill>
                  <a:srgbClr val="FFFFFF"/>
                </a:solidFill>
                <a:latin typeface="Calibri"/>
              </a:rPr>
              <a:t>The MDU Tracker</a:t>
            </a:r>
          </a:p>
        </p:txBody>
      </p:sp>
      <p:sp>
        <p:nvSpPr>
          <p:cNvPr id="5" name="TextBox 4"/>
          <p:cNvSpPr txBox="1"/>
          <p:nvPr/>
        </p:nvSpPr>
        <p:spPr>
          <a:xfrm>
            <a:off x="3657600" y="3383280"/>
            <a:ext cx="7955279" cy="1828800"/>
          </a:xfrm>
          <a:prstGeom prst="rect">
            <a:avLst/>
          </a:prstGeom>
          <a:noFill/>
        </p:spPr>
        <p:txBody>
          <a:bodyPr wrap="square" lIns="45720" rIns="45720" tIns="18288" bIns="18288" anchor="t">
            <a:spAutoFit/>
          </a:bodyPr>
          <a:lstStyle/>
          <a:p>
            <a:pPr algn="l"/>
            <a:r>
              <a:rPr sz="1800" b="0">
                <a:solidFill>
                  <a:srgbClr val="E8EEF7"/>
                </a:solidFill>
                <a:latin typeface="Calibri"/>
              </a:rPr>
              <a:t>The single most useful view in the app. Filtered, paginated, summarized.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7</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Living in the Tracker</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5486400" cy="365760"/>
          </a:xfrm>
          <a:prstGeom prst="rect">
            <a:avLst/>
          </a:prstGeom>
          <a:noFill/>
        </p:spPr>
        <p:txBody>
          <a:bodyPr wrap="square" lIns="45720" rIns="45720" tIns="18288" bIns="18288" anchor="t">
            <a:spAutoFit/>
          </a:bodyPr>
          <a:lstStyle/>
          <a:p>
            <a:pPr algn="l"/>
            <a:r>
              <a:rPr sz="1800" b="1">
                <a:solidFill>
                  <a:srgbClr val="2E7D32"/>
                </a:solidFill>
                <a:latin typeface="Calibri"/>
              </a:rPr>
              <a:t>What it shows</a:t>
            </a:r>
          </a:p>
        </p:txBody>
      </p:sp>
      <p:sp>
        <p:nvSpPr>
          <p:cNvPr id="7" name="TextBox 6"/>
          <p:cNvSpPr txBox="1"/>
          <p:nvPr/>
        </p:nvSpPr>
        <p:spPr>
          <a:xfrm>
            <a:off x="640080" y="1828800"/>
            <a:ext cx="5486400" cy="3200400"/>
          </a:xfrm>
          <a:prstGeom prst="rect">
            <a:avLst/>
          </a:prstGeom>
          <a:noFill/>
        </p:spPr>
        <p:txBody>
          <a:bodyPr wrap="square" lIns="45720" rIns="45720">
            <a:spAutoFit/>
          </a:bodyPr>
          <a:lstStyle/>
          <a:p>
            <a:pPr>
              <a:spcAft>
                <a:spcPts val="600"/>
              </a:spcAft>
            </a:pPr>
            <a:r>
              <a:rPr sz="1500">
                <a:solidFill>
                  <a:srgbClr val="555555"/>
                </a:solidFill>
                <a:latin typeface="Calibri"/>
              </a:rPr>
              <a:t>•  Property name</a:t>
            </a:r>
          </a:p>
          <a:p>
            <a:pPr>
              <a:spcAft>
                <a:spcPts val="600"/>
              </a:spcAft>
            </a:pPr>
            <a:r>
              <a:rPr sz="1500">
                <a:solidFill>
                  <a:srgbClr val="555555"/>
                </a:solidFill>
                <a:latin typeface="Calibri"/>
              </a:rPr>
              <a:t>•  Stage</a:t>
            </a:r>
          </a:p>
          <a:p>
            <a:pPr>
              <a:spcAft>
                <a:spcPts val="600"/>
              </a:spcAft>
            </a:pPr>
            <a:r>
              <a:rPr sz="1500">
                <a:solidFill>
                  <a:srgbClr val="555555"/>
                </a:solidFill>
                <a:latin typeface="Calibri"/>
              </a:rPr>
              <a:t>•  SiteTracker Build Status</a:t>
            </a:r>
          </a:p>
          <a:p>
            <a:pPr>
              <a:spcAft>
                <a:spcPts val="600"/>
              </a:spcAft>
            </a:pPr>
            <a:r>
              <a:rPr sz="1500">
                <a:solidFill>
                  <a:srgbClr val="555555"/>
                </a:solidFill>
                <a:latin typeface="Calibri"/>
              </a:rPr>
              <a:t>•  Owner + RE Assigned</a:t>
            </a:r>
          </a:p>
          <a:p>
            <a:pPr>
              <a:spcAft>
                <a:spcPts val="600"/>
              </a:spcAft>
            </a:pPr>
            <a:r>
              <a:rPr sz="1500">
                <a:solidFill>
                  <a:srgbClr val="555555"/>
                </a:solidFill>
                <a:latin typeface="Calibri"/>
              </a:rPr>
              <a:t>•  Projected Close Date</a:t>
            </a:r>
          </a:p>
          <a:p>
            <a:pPr>
              <a:spcAft>
                <a:spcPts val="600"/>
              </a:spcAft>
            </a:pPr>
            <a:r>
              <a:rPr sz="1500">
                <a:solidFill>
                  <a:srgbClr val="555555"/>
                </a:solidFill>
                <a:latin typeface="Calibri"/>
              </a:rPr>
              <a:t>•  Summary bar: Opps, Units, completed Agreements</a:t>
            </a:r>
          </a:p>
          <a:p>
            <a:pPr>
              <a:spcAft>
                <a:spcPts val="600"/>
              </a:spcAft>
            </a:pPr>
            <a:r>
              <a:rPr sz="1500">
                <a:solidFill>
                  <a:srgbClr val="555555"/>
                </a:solidFill>
                <a:latin typeface="Calibri"/>
              </a:rPr>
              <a:t>•  50/page + Load More</a:t>
            </a:r>
          </a:p>
        </p:txBody>
      </p:sp>
      <p:sp>
        <p:nvSpPr>
          <p:cNvPr id="8" name="TextBox 7"/>
          <p:cNvSpPr txBox="1"/>
          <p:nvPr/>
        </p:nvSpPr>
        <p:spPr>
          <a:xfrm>
            <a:off x="6400800" y="1371600"/>
            <a:ext cx="5486400" cy="365760"/>
          </a:xfrm>
          <a:prstGeom prst="rect">
            <a:avLst/>
          </a:prstGeom>
          <a:noFill/>
        </p:spPr>
        <p:txBody>
          <a:bodyPr wrap="square" lIns="45720" rIns="45720" tIns="18288" bIns="18288" anchor="t">
            <a:spAutoFit/>
          </a:bodyPr>
          <a:lstStyle/>
          <a:p>
            <a:pPr algn="l"/>
            <a:r>
              <a:rPr sz="1800" b="1">
                <a:solidFill>
                  <a:srgbClr val="2E7D32"/>
                </a:solidFill>
                <a:latin typeface="Calibri"/>
              </a:rPr>
              <a:t>Filters</a:t>
            </a:r>
          </a:p>
        </p:txBody>
      </p:sp>
      <p:sp>
        <p:nvSpPr>
          <p:cNvPr id="9" name="TextBox 8"/>
          <p:cNvSpPr txBox="1"/>
          <p:nvPr/>
        </p:nvSpPr>
        <p:spPr>
          <a:xfrm>
            <a:off x="6583680" y="1828800"/>
            <a:ext cx="5486400" cy="3200400"/>
          </a:xfrm>
          <a:prstGeom prst="rect">
            <a:avLst/>
          </a:prstGeom>
          <a:noFill/>
        </p:spPr>
        <p:txBody>
          <a:bodyPr wrap="square" lIns="45720" rIns="45720">
            <a:spAutoFit/>
          </a:bodyPr>
          <a:lstStyle/>
          <a:p>
            <a:pPr>
              <a:spcAft>
                <a:spcPts val="600"/>
              </a:spcAft>
            </a:pPr>
            <a:r>
              <a:rPr sz="1500" b="1">
                <a:solidFill>
                  <a:srgbClr val="1F3A68"/>
                </a:solidFill>
                <a:latin typeface="Calibri"/>
              </a:rPr>
              <a:t>•  Owner: </a:t>
            </a:r>
            <a:r>
              <a:rPr sz="1500">
                <a:solidFill>
                  <a:srgbClr val="555555"/>
                </a:solidFill>
                <a:latin typeface="Calibri"/>
              </a:rPr>
              <a:t>your pipeline or someone else's.</a:t>
            </a:r>
          </a:p>
          <a:p>
            <a:pPr>
              <a:spcAft>
                <a:spcPts val="600"/>
              </a:spcAft>
            </a:pPr>
            <a:r>
              <a:rPr sz="1500" b="1">
                <a:solidFill>
                  <a:srgbClr val="1F3A68"/>
                </a:solidFill>
                <a:latin typeface="Calibri"/>
              </a:rPr>
              <a:t>•  RE Assigned: </a:t>
            </a:r>
            <a:r>
              <a:rPr sz="1500">
                <a:solidFill>
                  <a:srgbClr val="555555"/>
                </a:solidFill>
                <a:latin typeface="Calibri"/>
              </a:rPr>
              <a:t>TF, JB, RS, etc.</a:t>
            </a:r>
          </a:p>
          <a:p>
            <a:pPr>
              <a:spcAft>
                <a:spcPts val="600"/>
              </a:spcAft>
            </a:pPr>
            <a:r>
              <a:rPr sz="1500" b="1">
                <a:solidFill>
                  <a:srgbClr val="1F3A68"/>
                </a:solidFill>
                <a:latin typeface="Calibri"/>
              </a:rPr>
              <a:t>•  Stage: </a:t>
            </a:r>
            <a:r>
              <a:rPr sz="1500">
                <a:solidFill>
                  <a:srgbClr val="555555"/>
                </a:solidFill>
                <a:latin typeface="Calibri"/>
              </a:rPr>
              <a:t>MDU stages only.</a:t>
            </a:r>
          </a:p>
          <a:p>
            <a:pPr>
              <a:spcAft>
                <a:spcPts val="600"/>
              </a:spcAft>
            </a:pPr>
            <a:r>
              <a:rPr sz="1500" b="1">
                <a:solidFill>
                  <a:srgbClr val="1F3A68"/>
                </a:solidFill>
                <a:latin typeface="Calibri"/>
              </a:rPr>
              <a:t>•  Date range: </a:t>
            </a:r>
            <a:r>
              <a:rPr sz="1500">
                <a:solidFill>
                  <a:srgbClr val="555555"/>
                </a:solidFill>
                <a:latin typeface="Calibri"/>
              </a:rPr>
              <a:t>by Projected Close.</a:t>
            </a:r>
          </a:p>
        </p:txBody>
      </p:sp>
      <p:sp>
        <p:nvSpPr>
          <p:cNvPr id="10" name="TextBox 9"/>
          <p:cNvSpPr txBox="1"/>
          <p:nvPr/>
        </p:nvSpPr>
        <p:spPr>
          <a:xfrm>
            <a:off x="457200" y="5120640"/>
            <a:ext cx="11247120" cy="365760"/>
          </a:xfrm>
          <a:prstGeom prst="rect">
            <a:avLst/>
          </a:prstGeom>
          <a:noFill/>
        </p:spPr>
        <p:txBody>
          <a:bodyPr wrap="square" lIns="45720" rIns="45720" tIns="18288" bIns="18288" anchor="t">
            <a:spAutoFit/>
          </a:bodyPr>
          <a:lstStyle/>
          <a:p>
            <a:pPr algn="l"/>
            <a:r>
              <a:rPr sz="1800" b="1">
                <a:solidFill>
                  <a:srgbClr val="2E7D32"/>
                </a:solidFill>
                <a:latin typeface="Calibri"/>
              </a:rPr>
              <a:t>How to use it through the week</a:t>
            </a:r>
          </a:p>
        </p:txBody>
      </p:sp>
      <p:sp>
        <p:nvSpPr>
          <p:cNvPr id="11" name="TextBox 10"/>
          <p:cNvSpPr txBox="1"/>
          <p:nvPr/>
        </p:nvSpPr>
        <p:spPr>
          <a:xfrm>
            <a:off x="640080" y="5577840"/>
            <a:ext cx="10972800" cy="914400"/>
          </a:xfrm>
          <a:prstGeom prst="rect">
            <a:avLst/>
          </a:prstGeom>
          <a:noFill/>
        </p:spPr>
        <p:txBody>
          <a:bodyPr wrap="square" lIns="45720" rIns="45720">
            <a:spAutoFit/>
          </a:bodyPr>
          <a:lstStyle/>
          <a:p>
            <a:pPr>
              <a:spcAft>
                <a:spcPts val="600"/>
              </a:spcAft>
            </a:pPr>
            <a:r>
              <a:rPr sz="1400" b="1">
                <a:solidFill>
                  <a:srgbClr val="1F3A68"/>
                </a:solidFill>
                <a:latin typeface="Calibri"/>
              </a:rPr>
              <a:t>•  Mondays: </a:t>
            </a:r>
            <a:r>
              <a:rPr sz="1400">
                <a:solidFill>
                  <a:srgbClr val="555555"/>
                </a:solidFill>
                <a:latin typeface="Calibri"/>
              </a:rPr>
              <a:t>filter to your Owner, walk Engaged + Contract Negotiations.</a:t>
            </a:r>
          </a:p>
          <a:p>
            <a:pPr>
              <a:spcAft>
                <a:spcPts val="600"/>
              </a:spcAft>
            </a:pPr>
            <a:r>
              <a:rPr sz="1400" b="1">
                <a:solidFill>
                  <a:srgbClr val="1F3A68"/>
                </a:solidFill>
                <a:latin typeface="Calibri"/>
              </a:rPr>
              <a:t>•  Mid-week: </a:t>
            </a:r>
            <a:r>
              <a:rPr sz="1400">
                <a:solidFill>
                  <a:srgbClr val="555555"/>
                </a:solidFill>
                <a:latin typeface="Calibri"/>
              </a:rPr>
              <a:t>scan On Hold for anything ready to re-engage.</a:t>
            </a:r>
          </a:p>
          <a:p>
            <a:pPr>
              <a:spcAft>
                <a:spcPts val="600"/>
              </a:spcAft>
            </a:pPr>
            <a:r>
              <a:rPr sz="1400" b="1">
                <a:solidFill>
                  <a:srgbClr val="1F3A68"/>
                </a:solidFill>
                <a:latin typeface="Calibri"/>
              </a:rPr>
              <a:t>•  Fridays: </a:t>
            </a:r>
            <a:r>
              <a:rPr sz="1400">
                <a:solidFill>
                  <a:srgbClr val="555555"/>
                </a:solidFill>
                <a:latin typeface="Calibri"/>
              </a:rPr>
              <a:t>anything closing this month with a stale stage gets a Note + status check.</a:t>
            </a:r>
          </a:p>
        </p:txBody>
      </p:sp>
      <p:sp>
        <p:nvSpPr>
          <p:cNvPr id="12" name="TextBox 11"/>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3" name="TextBox 12"/>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2743200" cy="3200400"/>
          </a:xfrm>
          <a:prstGeom prst="rect">
            <a:avLst/>
          </a:prstGeom>
          <a:noFill/>
        </p:spPr>
        <p:txBody>
          <a:bodyPr wrap="square" lIns="45720" rIns="45720" tIns="18288" bIns="18288" anchor="t">
            <a:spAutoFit/>
          </a:bodyPr>
          <a:lstStyle/>
          <a:p>
            <a:pPr algn="l"/>
            <a:r>
              <a:rPr sz="18000" b="1">
                <a:solidFill>
                  <a:srgbClr val="2E7D32"/>
                </a:solidFill>
                <a:latin typeface="Calibri"/>
              </a:rPr>
              <a:t>08</a:t>
            </a:r>
          </a:p>
        </p:txBody>
      </p:sp>
      <p:sp>
        <p:nvSpPr>
          <p:cNvPr id="4" name="TextBox 3"/>
          <p:cNvSpPr txBox="1"/>
          <p:nvPr/>
        </p:nvSpPr>
        <p:spPr>
          <a:xfrm>
            <a:off x="3657600" y="2377440"/>
            <a:ext cx="7955279" cy="914400"/>
          </a:xfrm>
          <a:prstGeom prst="rect">
            <a:avLst/>
          </a:prstGeom>
          <a:noFill/>
        </p:spPr>
        <p:txBody>
          <a:bodyPr wrap="square" lIns="45720" rIns="45720" tIns="18288" bIns="18288" anchor="t">
            <a:spAutoFit/>
          </a:bodyPr>
          <a:lstStyle/>
          <a:p>
            <a:pPr algn="l"/>
            <a:r>
              <a:rPr sz="4400" b="1">
                <a:solidFill>
                  <a:srgbClr val="FFFFFF"/>
                </a:solidFill>
                <a:latin typeface="Calibri"/>
              </a:rPr>
              <a:t>Reports and dashboards</a:t>
            </a:r>
          </a:p>
        </p:txBody>
      </p:sp>
      <p:sp>
        <p:nvSpPr>
          <p:cNvPr id="5" name="TextBox 4"/>
          <p:cNvSpPr txBox="1"/>
          <p:nvPr/>
        </p:nvSpPr>
        <p:spPr>
          <a:xfrm>
            <a:off x="3657600" y="3383280"/>
            <a:ext cx="7955279" cy="1828800"/>
          </a:xfrm>
          <a:prstGeom prst="rect">
            <a:avLst/>
          </a:prstGeom>
          <a:noFill/>
        </p:spPr>
        <p:txBody>
          <a:bodyPr wrap="square" lIns="45720" rIns="45720" tIns="18288" bIns="18288" anchor="t">
            <a:spAutoFit/>
          </a:bodyPr>
          <a:lstStyle/>
          <a:p>
            <a:pPr algn="l"/>
            <a:r>
              <a:rPr sz="1800" b="0">
                <a:solidFill>
                  <a:srgbClr val="E8EEF7"/>
                </a:solidFill>
                <a:latin typeface="Calibri"/>
              </a:rPr>
              <a:t>Where to look when you need a list, a chart, or a snapshot for leadership.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8</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Dashboards available to you</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365760"/>
          </a:xfrm>
          <a:prstGeom prst="rect">
            <a:avLst/>
          </a:prstGeom>
          <a:noFill/>
        </p:spPr>
        <p:txBody>
          <a:bodyPr wrap="square" lIns="45720" rIns="45720" tIns="18288" bIns="18288" anchor="t">
            <a:spAutoFit/>
          </a:bodyPr>
          <a:lstStyle/>
          <a:p>
            <a:pPr algn="l"/>
            <a:r>
              <a:rPr sz="2000" b="1">
                <a:solidFill>
                  <a:srgbClr val="2E7D32"/>
                </a:solidFill>
                <a:latin typeface="Calibri"/>
              </a:rPr>
              <a:t>MDU Sales Dashboard</a:t>
            </a:r>
          </a:p>
        </p:txBody>
      </p:sp>
      <p:sp>
        <p:nvSpPr>
          <p:cNvPr id="7" name="TextBox 6"/>
          <p:cNvSpPr txBox="1"/>
          <p:nvPr/>
        </p:nvSpPr>
        <p:spPr>
          <a:xfrm>
            <a:off x="640080" y="1828800"/>
            <a:ext cx="10972800" cy="457200"/>
          </a:xfrm>
          <a:prstGeom prst="rect">
            <a:avLst/>
          </a:prstGeom>
          <a:noFill/>
        </p:spPr>
        <p:txBody>
          <a:bodyPr wrap="square" lIns="45720" rIns="45720" tIns="18288" bIns="18288" anchor="t">
            <a:spAutoFit/>
          </a:bodyPr>
          <a:lstStyle/>
          <a:p>
            <a:pPr algn="l"/>
            <a:r>
              <a:rPr sz="1400" b="0">
                <a:solidFill>
                  <a:srgbClr val="555555"/>
                </a:solidFill>
                <a:latin typeface="Calibri"/>
              </a:rPr>
              <a:t>Six charts, filterable by Opportunity Owner. Open from the Dashboards tab.</a:t>
            </a:r>
          </a:p>
        </p:txBody>
      </p:sp>
      <p:sp>
        <p:nvSpPr>
          <p:cNvPr id="8" name="TextBox 7"/>
          <p:cNvSpPr txBox="1"/>
          <p:nvPr/>
        </p:nvSpPr>
        <p:spPr>
          <a:xfrm>
            <a:off x="640080" y="2377440"/>
            <a:ext cx="5486400" cy="2286000"/>
          </a:xfrm>
          <a:prstGeom prst="rect">
            <a:avLst/>
          </a:prstGeom>
          <a:noFill/>
        </p:spPr>
        <p:txBody>
          <a:bodyPr wrap="square" lIns="45720" rIns="45720">
            <a:spAutoFit/>
          </a:bodyPr>
          <a:lstStyle/>
          <a:p>
            <a:pPr>
              <a:spcAft>
                <a:spcPts val="600"/>
              </a:spcAft>
            </a:pPr>
            <a:r>
              <a:rPr sz="1500">
                <a:solidFill>
                  <a:srgbClr val="555555"/>
                </a:solidFill>
                <a:latin typeface="Calibri"/>
              </a:rPr>
              <a:t>•  Opportunities by Stage</a:t>
            </a:r>
          </a:p>
          <a:p>
            <a:pPr>
              <a:spcAft>
                <a:spcPts val="600"/>
              </a:spcAft>
            </a:pPr>
            <a:r>
              <a:rPr sz="1500">
                <a:solidFill>
                  <a:srgbClr val="555555"/>
                </a:solidFill>
                <a:latin typeface="Calibri"/>
              </a:rPr>
              <a:t>•  Opportunities by Owner</a:t>
            </a:r>
          </a:p>
          <a:p>
            <a:pPr>
              <a:spcAft>
                <a:spcPts val="600"/>
              </a:spcAft>
            </a:pPr>
            <a:r>
              <a:rPr sz="1500">
                <a:solidFill>
                  <a:srgbClr val="555555"/>
                </a:solidFill>
                <a:latin typeface="Calibri"/>
              </a:rPr>
              <a:t>•  Opportunities by State</a:t>
            </a:r>
          </a:p>
        </p:txBody>
      </p:sp>
      <p:sp>
        <p:nvSpPr>
          <p:cNvPr id="9" name="TextBox 8"/>
          <p:cNvSpPr txBox="1"/>
          <p:nvPr/>
        </p:nvSpPr>
        <p:spPr>
          <a:xfrm>
            <a:off x="6400800" y="2377440"/>
            <a:ext cx="5486400" cy="2286000"/>
          </a:xfrm>
          <a:prstGeom prst="rect">
            <a:avLst/>
          </a:prstGeom>
          <a:noFill/>
        </p:spPr>
        <p:txBody>
          <a:bodyPr wrap="square" lIns="45720" rIns="45720">
            <a:spAutoFit/>
          </a:bodyPr>
          <a:lstStyle/>
          <a:p>
            <a:pPr>
              <a:spcAft>
                <a:spcPts val="600"/>
              </a:spcAft>
            </a:pPr>
            <a:r>
              <a:rPr sz="1500">
                <a:solidFill>
                  <a:srgbClr val="555555"/>
                </a:solidFill>
                <a:latin typeface="Calibri"/>
              </a:rPr>
              <a:t>•  Units by Stage</a:t>
            </a:r>
          </a:p>
          <a:p>
            <a:pPr>
              <a:spcAft>
                <a:spcPts val="600"/>
              </a:spcAft>
            </a:pPr>
            <a:r>
              <a:rPr sz="1500">
                <a:solidFill>
                  <a:srgbClr val="555555"/>
                </a:solidFill>
                <a:latin typeface="Calibri"/>
              </a:rPr>
              <a:t>•  Stage by Owner Matrix</a:t>
            </a:r>
          </a:p>
          <a:p>
            <a:pPr>
              <a:spcAft>
                <a:spcPts val="600"/>
              </a:spcAft>
            </a:pPr>
            <a:r>
              <a:rPr sz="1500">
                <a:solidFill>
                  <a:srgbClr val="555555"/>
                </a:solidFill>
                <a:latin typeface="Calibri"/>
              </a:rPr>
              <a:t>•  SiteTracker Coverage</a:t>
            </a:r>
          </a:p>
        </p:txBody>
      </p:sp>
      <p:sp>
        <p:nvSpPr>
          <p:cNvPr id="10" name="TextBox 9"/>
          <p:cNvSpPr txBox="1"/>
          <p:nvPr/>
        </p:nvSpPr>
        <p:spPr>
          <a:xfrm>
            <a:off x="457200" y="4572000"/>
            <a:ext cx="11247120" cy="365760"/>
          </a:xfrm>
          <a:prstGeom prst="rect">
            <a:avLst/>
          </a:prstGeom>
          <a:noFill/>
        </p:spPr>
        <p:txBody>
          <a:bodyPr wrap="square" lIns="45720" rIns="45720" tIns="18288" bIns="18288" anchor="t">
            <a:spAutoFit/>
          </a:bodyPr>
          <a:lstStyle/>
          <a:p>
            <a:pPr algn="l"/>
            <a:r>
              <a:rPr sz="2000" b="1">
                <a:solidFill>
                  <a:srgbClr val="2E7D32"/>
                </a:solidFill>
                <a:latin typeface="Calibri"/>
              </a:rPr>
              <a:t>Campaign Dashboard</a:t>
            </a:r>
          </a:p>
        </p:txBody>
      </p:sp>
      <p:sp>
        <p:nvSpPr>
          <p:cNvPr id="11" name="TextBox 10"/>
          <p:cNvSpPr txBox="1"/>
          <p:nvPr/>
        </p:nvSpPr>
        <p:spPr>
          <a:xfrm>
            <a:off x="640080" y="5029200"/>
            <a:ext cx="10972800" cy="1371600"/>
          </a:xfrm>
          <a:prstGeom prst="rect">
            <a:avLst/>
          </a:prstGeom>
          <a:noFill/>
        </p:spPr>
        <p:txBody>
          <a:bodyPr wrap="square" lIns="45720" rIns="45720" tIns="18288" bIns="18288" anchor="t">
            <a:spAutoFit/>
          </a:bodyPr>
          <a:lstStyle/>
          <a:p>
            <a:pPr algn="l"/>
            <a:r>
              <a:rPr sz="1400" b="0">
                <a:solidFill>
                  <a:srgbClr val="555555"/>
                </a:solidFill>
                <a:latin typeface="Calibri"/>
              </a:rPr>
              <a:t>When properties are part of a named initiative (e.g. 9-25 MDU ROE Project), they are tagged via Campaign. The Campaign Dashboard shows pipeline progress for just that group.</a:t>
            </a:r>
          </a:p>
        </p:txBody>
      </p:sp>
      <p:sp>
        <p:nvSpPr>
          <p:cNvPr id="12" name="TextBox 11"/>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3" name="TextBox 12"/>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2743200" cy="3200400"/>
          </a:xfrm>
          <a:prstGeom prst="rect">
            <a:avLst/>
          </a:prstGeom>
          <a:noFill/>
        </p:spPr>
        <p:txBody>
          <a:bodyPr wrap="square" lIns="45720" rIns="45720" tIns="18288" bIns="18288" anchor="t">
            <a:spAutoFit/>
          </a:bodyPr>
          <a:lstStyle/>
          <a:p>
            <a:pPr algn="l"/>
            <a:r>
              <a:rPr sz="18000" b="1">
                <a:solidFill>
                  <a:srgbClr val="2E7D32"/>
                </a:solidFill>
                <a:latin typeface="Calibri"/>
              </a:rPr>
              <a:t>09</a:t>
            </a:r>
          </a:p>
        </p:txBody>
      </p:sp>
      <p:sp>
        <p:nvSpPr>
          <p:cNvPr id="4" name="TextBox 3"/>
          <p:cNvSpPr txBox="1"/>
          <p:nvPr/>
        </p:nvSpPr>
        <p:spPr>
          <a:xfrm>
            <a:off x="3657600" y="2377440"/>
            <a:ext cx="7955279" cy="914400"/>
          </a:xfrm>
          <a:prstGeom prst="rect">
            <a:avLst/>
          </a:prstGeom>
          <a:noFill/>
        </p:spPr>
        <p:txBody>
          <a:bodyPr wrap="square" lIns="45720" rIns="45720" tIns="18288" bIns="18288" anchor="t">
            <a:spAutoFit/>
          </a:bodyPr>
          <a:lstStyle/>
          <a:p>
            <a:pPr algn="l"/>
            <a:r>
              <a:rPr sz="4400" b="1">
                <a:solidFill>
                  <a:srgbClr val="FFFFFF"/>
                </a:solidFill>
                <a:latin typeface="Calibri"/>
              </a:rPr>
              <a:t>How SiteTracker fits in</a:t>
            </a:r>
          </a:p>
        </p:txBody>
      </p:sp>
      <p:sp>
        <p:nvSpPr>
          <p:cNvPr id="5" name="TextBox 4"/>
          <p:cNvSpPr txBox="1"/>
          <p:nvPr/>
        </p:nvSpPr>
        <p:spPr>
          <a:xfrm>
            <a:off x="3657600" y="3383280"/>
            <a:ext cx="7955279" cy="1828800"/>
          </a:xfrm>
          <a:prstGeom prst="rect">
            <a:avLst/>
          </a:prstGeom>
          <a:noFill/>
        </p:spPr>
        <p:txBody>
          <a:bodyPr wrap="square" lIns="45720" rIns="45720" tIns="18288" bIns="18288" anchor="t">
            <a:spAutoFit/>
          </a:bodyPr>
          <a:lstStyle/>
          <a:p>
            <a:pPr algn="l"/>
            <a:r>
              <a:rPr sz="1800" b="0">
                <a:solidFill>
                  <a:srgbClr val="E8EEF7"/>
                </a:solidFill>
                <a:latin typeface="Calibri"/>
              </a:rPr>
              <a:t>Build tracking lives somewhere else. Here is how the two connect.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9</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What you see and where</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548640"/>
          </a:xfrm>
          <a:prstGeom prst="rect">
            <a:avLst/>
          </a:prstGeom>
          <a:noFill/>
        </p:spPr>
        <p:txBody>
          <a:bodyPr wrap="square" lIns="45720" rIns="45720" tIns="18288" bIns="18288" anchor="t">
            <a:spAutoFit/>
          </a:bodyPr>
          <a:lstStyle/>
          <a:p>
            <a:pPr algn="l"/>
            <a:r>
              <a:rPr sz="1600" b="0">
                <a:solidFill>
                  <a:srgbClr val="555555"/>
                </a:solidFill>
                <a:latin typeface="Calibri"/>
              </a:rPr>
              <a:t>SiteTracker is a separate Salesforce org used by Engineering. We do not track build milestones on the Opportunity.</a:t>
            </a:r>
          </a:p>
        </p:txBody>
      </p:sp>
      <p:sp>
        <p:nvSpPr>
          <p:cNvPr id="7" name="TextBox 6"/>
          <p:cNvSpPr txBox="1"/>
          <p:nvPr/>
        </p:nvSpPr>
        <p:spPr>
          <a:xfrm>
            <a:off x="457200" y="2286000"/>
            <a:ext cx="11247120" cy="365760"/>
          </a:xfrm>
          <a:prstGeom prst="rect">
            <a:avLst/>
          </a:prstGeom>
          <a:noFill/>
        </p:spPr>
        <p:txBody>
          <a:bodyPr wrap="square" lIns="45720" rIns="45720" tIns="18288" bIns="18288" anchor="t">
            <a:spAutoFit/>
          </a:bodyPr>
          <a:lstStyle/>
          <a:p>
            <a:pPr algn="l"/>
            <a:r>
              <a:rPr sz="1800" b="1">
                <a:solidFill>
                  <a:srgbClr val="2E7D32"/>
                </a:solidFill>
                <a:latin typeface="Calibri"/>
              </a:rPr>
              <a:t>What you see in MDU Sales</a:t>
            </a:r>
          </a:p>
        </p:txBody>
      </p:sp>
      <p:sp>
        <p:nvSpPr>
          <p:cNvPr id="8" name="TextBox 7"/>
          <p:cNvSpPr txBox="1"/>
          <p:nvPr/>
        </p:nvSpPr>
        <p:spPr>
          <a:xfrm>
            <a:off x="640080" y="2743200"/>
            <a:ext cx="10972800" cy="2286000"/>
          </a:xfrm>
          <a:prstGeom prst="rect">
            <a:avLst/>
          </a:prstGeom>
          <a:noFill/>
        </p:spPr>
        <p:txBody>
          <a:bodyPr wrap="square" lIns="45720" rIns="45720">
            <a:spAutoFit/>
          </a:bodyPr>
          <a:lstStyle/>
          <a:p>
            <a:pPr>
              <a:spcAft>
                <a:spcPts val="600"/>
              </a:spcAft>
            </a:pPr>
            <a:r>
              <a:rPr sz="1500" b="1">
                <a:solidFill>
                  <a:srgbClr val="1F3A68"/>
                </a:solidFill>
                <a:latin typeface="Calibri"/>
              </a:rPr>
              <a:t>•  SiteTracker Project ID: </a:t>
            </a:r>
            <a:r>
              <a:rPr sz="1500">
                <a:solidFill>
                  <a:srgbClr val="555555"/>
                </a:solidFill>
                <a:latin typeface="Calibri"/>
              </a:rPr>
              <a:t>the linking key. Auto-populated by sync.</a:t>
            </a:r>
          </a:p>
          <a:p>
            <a:pPr>
              <a:spcAft>
                <a:spcPts val="600"/>
              </a:spcAft>
            </a:pPr>
            <a:r>
              <a:rPr sz="1500" b="1">
                <a:solidFill>
                  <a:srgbClr val="1F3A68"/>
                </a:solidFill>
                <a:latin typeface="Calibri"/>
              </a:rPr>
              <a:t>•  SiteTracker URL: </a:t>
            </a:r>
            <a:r>
              <a:rPr sz="1500">
                <a:solidFill>
                  <a:srgbClr val="555555"/>
                </a:solidFill>
                <a:latin typeface="Calibri"/>
              </a:rPr>
              <a:t>click through to the build record in the SiteTracker org.</a:t>
            </a:r>
          </a:p>
          <a:p>
            <a:pPr>
              <a:spcAft>
                <a:spcPts val="600"/>
              </a:spcAft>
            </a:pPr>
            <a:r>
              <a:rPr sz="1500" b="1">
                <a:solidFill>
                  <a:srgbClr val="1F3A68"/>
                </a:solidFill>
                <a:latin typeface="Calibri"/>
              </a:rPr>
              <a:t>•  ST Build Status: </a:t>
            </a:r>
            <a:r>
              <a:rPr sz="1500">
                <a:solidFill>
                  <a:srgbClr val="555555"/>
                </a:solidFill>
                <a:latin typeface="Calibri"/>
              </a:rPr>
              <a:t>shown on the Tracker as a virtual column.</a:t>
            </a:r>
          </a:p>
          <a:p>
            <a:pPr>
              <a:spcAft>
                <a:spcPts val="600"/>
              </a:spcAft>
            </a:pPr>
            <a:r>
              <a:rPr sz="1500" b="1">
                <a:solidFill>
                  <a:srgbClr val="1F3A68"/>
                </a:solidFill>
                <a:latin typeface="Calibri"/>
              </a:rPr>
              <a:t>•  In SiteTracker checkbox: </a:t>
            </a:r>
            <a:r>
              <a:rPr sz="1500">
                <a:solidFill>
                  <a:srgbClr val="555555"/>
                </a:solidFill>
                <a:latin typeface="Calibri"/>
              </a:rPr>
              <a:t>yes/no, whether the Opp is linked.</a:t>
            </a:r>
          </a:p>
        </p:txBody>
      </p:sp>
      <p:sp>
        <p:nvSpPr>
          <p:cNvPr id="9" name="Rectangle 8"/>
          <p:cNvSpPr/>
          <p:nvPr/>
        </p:nvSpPr>
        <p:spPr>
          <a:xfrm>
            <a:off x="457200" y="5212080"/>
            <a:ext cx="11247120" cy="1188720"/>
          </a:xfrm>
          <a:prstGeom prst="rect">
            <a:avLst/>
          </a:prstGeom>
          <a:solidFill>
            <a:srgbClr val="F5F8FD"/>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257800"/>
            <a:ext cx="10972800" cy="365760"/>
          </a:xfrm>
          <a:prstGeom prst="rect">
            <a:avLst/>
          </a:prstGeom>
          <a:noFill/>
        </p:spPr>
        <p:txBody>
          <a:bodyPr wrap="square" lIns="45720" rIns="45720" tIns="18288" bIns="18288" anchor="t">
            <a:spAutoFit/>
          </a:bodyPr>
          <a:lstStyle/>
          <a:p>
            <a:pPr algn="l"/>
            <a:r>
              <a:rPr sz="1400" b="1">
                <a:solidFill>
                  <a:srgbClr val="2E7D32"/>
                </a:solidFill>
                <a:latin typeface="Calibri"/>
              </a:rPr>
              <a:t>Rule of thumb</a:t>
            </a:r>
          </a:p>
        </p:txBody>
      </p:sp>
      <p:sp>
        <p:nvSpPr>
          <p:cNvPr id="11" name="TextBox 10"/>
          <p:cNvSpPr txBox="1"/>
          <p:nvPr/>
        </p:nvSpPr>
        <p:spPr>
          <a:xfrm>
            <a:off x="640080" y="5623560"/>
            <a:ext cx="10972800" cy="822960"/>
          </a:xfrm>
          <a:prstGeom prst="rect">
            <a:avLst/>
          </a:prstGeom>
          <a:noFill/>
        </p:spPr>
        <p:txBody>
          <a:bodyPr wrap="square" lIns="45720" rIns="45720" tIns="18288" bIns="18288" anchor="t">
            <a:spAutoFit/>
          </a:bodyPr>
          <a:lstStyle/>
          <a:p>
            <a:pPr algn="l"/>
            <a:r>
              <a:rPr sz="1400" b="0">
                <a:solidFill>
                  <a:srgbClr val="555555"/>
                </a:solidFill>
                <a:latin typeface="Calibri"/>
              </a:rPr>
              <a:t>If it is about the sale (status, agreements, contacts, conversations) it goes in MDU Sales. If it is about the build (FDH activation, lit fiber, install schedule) it lives in SiteTracker.</a:t>
            </a:r>
          </a:p>
        </p:txBody>
      </p:sp>
      <p:sp>
        <p:nvSpPr>
          <p:cNvPr id="12" name="TextBox 11"/>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3" name="TextBox 12"/>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9</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How the sync works</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365760"/>
          </a:xfrm>
          <a:prstGeom prst="rect">
            <a:avLst/>
          </a:prstGeom>
          <a:noFill/>
        </p:spPr>
        <p:txBody>
          <a:bodyPr wrap="square" lIns="45720" rIns="45720" tIns="18288" bIns="18288" anchor="t">
            <a:spAutoFit/>
          </a:bodyPr>
          <a:lstStyle/>
          <a:p>
            <a:pPr algn="l"/>
            <a:r>
              <a:rPr sz="1800" b="1">
                <a:solidFill>
                  <a:srgbClr val="2E7D32"/>
                </a:solidFill>
                <a:latin typeface="Calibri"/>
              </a:rPr>
              <a:t>How the sync works</a:t>
            </a:r>
          </a:p>
        </p:txBody>
      </p:sp>
      <p:sp>
        <p:nvSpPr>
          <p:cNvPr id="7" name="TextBox 6"/>
          <p:cNvSpPr txBox="1"/>
          <p:nvPr/>
        </p:nvSpPr>
        <p:spPr>
          <a:xfrm>
            <a:off x="640080" y="1828800"/>
            <a:ext cx="10972800" cy="2743200"/>
          </a:xfrm>
          <a:prstGeom prst="rect">
            <a:avLst/>
          </a:prstGeom>
          <a:noFill/>
        </p:spPr>
        <p:txBody>
          <a:bodyPr wrap="square" lIns="45720" rIns="45720">
            <a:spAutoFit/>
          </a:bodyPr>
          <a:lstStyle/>
          <a:p>
            <a:pPr>
              <a:spcAft>
                <a:spcPts val="600"/>
              </a:spcAft>
            </a:pPr>
            <a:r>
              <a:rPr sz="1600">
                <a:solidFill>
                  <a:srgbClr val="555555"/>
                </a:solidFill>
                <a:latin typeface="Calibri"/>
              </a:rPr>
              <a:t>•  GitHub Action runs every night at 2am Central, syncing SiteTracker Projects into MDU Sales.</a:t>
            </a:r>
          </a:p>
          <a:p>
            <a:pPr>
              <a:spcAft>
                <a:spcPts val="600"/>
              </a:spcAft>
            </a:pPr>
            <a:r>
              <a:rPr sz="1600">
                <a:solidFill>
                  <a:srgbClr val="555555"/>
                </a:solidFill>
                <a:latin typeface="Calibri"/>
              </a:rPr>
              <a:t>•  Match key is property name + Agreement Name. New projects link automatically.</a:t>
            </a:r>
          </a:p>
          <a:p>
            <a:pPr>
              <a:spcAft>
                <a:spcPts val="600"/>
              </a:spcAft>
            </a:pPr>
            <a:r>
              <a:rPr sz="1600">
                <a:solidFill>
                  <a:srgbClr val="555555"/>
                </a:solidFill>
                <a:latin typeface="Calibri"/>
              </a:rPr>
              <a:t>•  If a property has no link after construction starts, flag it to Cass.</a:t>
            </a:r>
          </a:p>
        </p:txBody>
      </p:sp>
      <p:sp>
        <p:nvSpPr>
          <p:cNvPr id="8" name="TextBox 7"/>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9" name="TextBox 8"/>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2743200" cy="3200400"/>
          </a:xfrm>
          <a:prstGeom prst="rect">
            <a:avLst/>
          </a:prstGeom>
          <a:noFill/>
        </p:spPr>
        <p:txBody>
          <a:bodyPr wrap="square" lIns="45720" rIns="45720" tIns="18288" bIns="18288" anchor="t">
            <a:spAutoFit/>
          </a:bodyPr>
          <a:lstStyle/>
          <a:p>
            <a:pPr algn="l"/>
            <a:r>
              <a:rPr sz="18000" b="1">
                <a:solidFill>
                  <a:srgbClr val="2E7D32"/>
                </a:solidFill>
                <a:latin typeface="Calibri"/>
              </a:rPr>
              <a:t>10</a:t>
            </a:r>
          </a:p>
        </p:txBody>
      </p:sp>
      <p:sp>
        <p:nvSpPr>
          <p:cNvPr id="4" name="TextBox 3"/>
          <p:cNvSpPr txBox="1"/>
          <p:nvPr/>
        </p:nvSpPr>
        <p:spPr>
          <a:xfrm>
            <a:off x="3657600" y="2377440"/>
            <a:ext cx="7955279" cy="914400"/>
          </a:xfrm>
          <a:prstGeom prst="rect">
            <a:avLst/>
          </a:prstGeom>
          <a:noFill/>
        </p:spPr>
        <p:txBody>
          <a:bodyPr wrap="square" lIns="45720" rIns="45720" tIns="18288" bIns="18288" anchor="t">
            <a:spAutoFit/>
          </a:bodyPr>
          <a:lstStyle/>
          <a:p>
            <a:pPr algn="l"/>
            <a:r>
              <a:rPr sz="4400" b="1">
                <a:solidFill>
                  <a:srgbClr val="FFFFFF"/>
                </a:solidFill>
                <a:latin typeface="Calibri"/>
              </a:rPr>
              <a:t>Common gotchas and rules</a:t>
            </a:r>
          </a:p>
        </p:txBody>
      </p:sp>
      <p:sp>
        <p:nvSpPr>
          <p:cNvPr id="5" name="TextBox 4"/>
          <p:cNvSpPr txBox="1"/>
          <p:nvPr/>
        </p:nvSpPr>
        <p:spPr>
          <a:xfrm>
            <a:off x="3657600" y="3383280"/>
            <a:ext cx="7955279" cy="1828800"/>
          </a:xfrm>
          <a:prstGeom prst="rect">
            <a:avLst/>
          </a:prstGeom>
          <a:noFill/>
        </p:spPr>
        <p:txBody>
          <a:bodyPr wrap="square" lIns="45720" rIns="45720" tIns="18288" bIns="18288" anchor="t">
            <a:spAutoFit/>
          </a:bodyPr>
          <a:lstStyle/>
          <a:p>
            <a:pPr algn="l"/>
            <a:r>
              <a:rPr sz="1800" b="0">
                <a:solidFill>
                  <a:srgbClr val="E8EEF7"/>
                </a:solidFill>
                <a:latin typeface="Calibri"/>
              </a:rPr>
              <a:t>The validation rules and quirks that catch people their first week.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10</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Validation rules</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365760"/>
          </a:xfrm>
          <a:prstGeom prst="rect">
            <a:avLst/>
          </a:prstGeom>
          <a:noFill/>
        </p:spPr>
        <p:txBody>
          <a:bodyPr wrap="square" lIns="45720" rIns="45720" tIns="18288" bIns="18288" anchor="t">
            <a:spAutoFit/>
          </a:bodyPr>
          <a:lstStyle/>
          <a:p>
            <a:pPr algn="l"/>
            <a:r>
              <a:rPr sz="1800" b="1">
                <a:solidFill>
                  <a:srgbClr val="2E7D32"/>
                </a:solidFill>
                <a:latin typeface="Calibri"/>
              </a:rPr>
              <a:t>Validation rules you will hit</a:t>
            </a:r>
          </a:p>
        </p:txBody>
      </p:sp>
      <p:sp>
        <p:nvSpPr>
          <p:cNvPr id="7" name="TextBox 6"/>
          <p:cNvSpPr txBox="1"/>
          <p:nvPr/>
        </p:nvSpPr>
        <p:spPr>
          <a:xfrm>
            <a:off x="640080" y="1828800"/>
            <a:ext cx="10972800" cy="4114800"/>
          </a:xfrm>
          <a:prstGeom prst="rect">
            <a:avLst/>
          </a:prstGeom>
          <a:noFill/>
        </p:spPr>
        <p:txBody>
          <a:bodyPr wrap="square" lIns="45720" rIns="45720">
            <a:spAutoFit/>
          </a:bodyPr>
          <a:lstStyle/>
          <a:p>
            <a:pPr>
              <a:spcAft>
                <a:spcPts val="600"/>
              </a:spcAft>
            </a:pPr>
            <a:r>
              <a:rPr sz="1600" b="1">
                <a:solidFill>
                  <a:srgbClr val="1F3A68"/>
                </a:solidFill>
                <a:latin typeface="Calibri"/>
              </a:rPr>
              <a:t>•  City, State, Zip required: </a:t>
            </a:r>
            <a:r>
              <a:rPr sz="1600">
                <a:solidFill>
                  <a:srgbClr val="555555"/>
                </a:solidFill>
                <a:latin typeface="Calibri"/>
              </a:rPr>
              <a:t>you cannot save without all three. Set them at creation.</a:t>
            </a:r>
          </a:p>
          <a:p>
            <a:pPr>
              <a:spcAft>
                <a:spcPts val="600"/>
              </a:spcAft>
            </a:pPr>
            <a:r>
              <a:rPr sz="1600" b="1">
                <a:solidFill>
                  <a:srgbClr val="1F3A68"/>
                </a:solidFill>
                <a:latin typeface="Calibri"/>
              </a:rPr>
              <a:t>•  Sales Status required when Prospecting: </a:t>
            </a:r>
            <a:r>
              <a:rPr sz="1600">
                <a:solidFill>
                  <a:srgbClr val="555555"/>
                </a:solidFill>
                <a:latin typeface="Calibri"/>
              </a:rPr>
              <a:t>pick Contact Pending, Reached Out, or Research Completed.</a:t>
            </a:r>
          </a:p>
          <a:p>
            <a:pPr>
              <a:spcAft>
                <a:spcPts val="600"/>
              </a:spcAft>
            </a:pPr>
            <a:r>
              <a:rPr sz="1600" b="1">
                <a:solidFill>
                  <a:srgbClr val="1F3A68"/>
                </a:solidFill>
                <a:latin typeface="Calibri"/>
              </a:rPr>
              <a:t>•  Hold Reason required when On Hold: </a:t>
            </a:r>
            <a:r>
              <a:rPr sz="1600">
                <a:solidFill>
                  <a:srgbClr val="555555"/>
                </a:solidFill>
                <a:latin typeface="Calibri"/>
              </a:rPr>
              <a:t>pick a reason.</a:t>
            </a:r>
          </a:p>
          <a:p>
            <a:pPr>
              <a:spcAft>
                <a:spcPts val="600"/>
              </a:spcAft>
            </a:pPr>
            <a:r>
              <a:rPr sz="1600" b="1">
                <a:solidFill>
                  <a:srgbClr val="1F3A68"/>
                </a:solidFill>
                <a:latin typeface="Calibri"/>
              </a:rPr>
              <a:t>•  Loss Reason required when Closed Lost: </a:t>
            </a:r>
            <a:r>
              <a:rPr sz="1600">
                <a:solidFill>
                  <a:srgbClr val="555555"/>
                </a:solidFill>
                <a:latin typeface="Calibri"/>
              </a:rPr>
              <a:t>pick a reason.</a:t>
            </a:r>
          </a:p>
          <a:p>
            <a:pPr>
              <a:spcAft>
                <a:spcPts val="600"/>
              </a:spcAft>
            </a:pPr>
            <a:r>
              <a:rPr sz="1600" b="1">
                <a:solidFill>
                  <a:srgbClr val="1F3A68"/>
                </a:solidFill>
                <a:latin typeface="Calibri"/>
              </a:rPr>
              <a:t>•  Agreement Name is unique: </a:t>
            </a:r>
            <a:r>
              <a:rPr sz="1600">
                <a:solidFill>
                  <a:srgbClr val="555555"/>
                </a:solidFill>
                <a:latin typeface="Calibri"/>
              </a:rPr>
              <a:t>do not duplicate. If you see a dupe error, search first.</a:t>
            </a:r>
          </a:p>
        </p:txBody>
      </p:sp>
      <p:sp>
        <p:nvSpPr>
          <p:cNvPr id="8" name="TextBox 7"/>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9" name="TextBox 8"/>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10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10</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Habits and what to do when stuck</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365760"/>
          </a:xfrm>
          <a:prstGeom prst="rect">
            <a:avLst/>
          </a:prstGeom>
          <a:noFill/>
        </p:spPr>
        <p:txBody>
          <a:bodyPr wrap="square" lIns="45720" rIns="45720" tIns="18288" bIns="18288" anchor="t">
            <a:spAutoFit/>
          </a:bodyPr>
          <a:lstStyle/>
          <a:p>
            <a:pPr algn="l"/>
            <a:r>
              <a:rPr sz="1800" b="1">
                <a:solidFill>
                  <a:srgbClr val="2E7D32"/>
                </a:solidFill>
                <a:latin typeface="Calibri"/>
              </a:rPr>
              <a:t>Habits to keep</a:t>
            </a:r>
          </a:p>
        </p:txBody>
      </p:sp>
      <p:sp>
        <p:nvSpPr>
          <p:cNvPr id="7" name="TextBox 6"/>
          <p:cNvSpPr txBox="1"/>
          <p:nvPr/>
        </p:nvSpPr>
        <p:spPr>
          <a:xfrm>
            <a:off x="640080" y="1828800"/>
            <a:ext cx="10972800" cy="2286000"/>
          </a:xfrm>
          <a:prstGeom prst="rect">
            <a:avLst/>
          </a:prstGeom>
          <a:noFill/>
        </p:spPr>
        <p:txBody>
          <a:bodyPr wrap="square" lIns="45720" rIns="45720">
            <a:spAutoFit/>
          </a:bodyPr>
          <a:lstStyle/>
          <a:p>
            <a:pPr>
              <a:spcAft>
                <a:spcPts val="600"/>
              </a:spcAft>
            </a:pPr>
            <a:r>
              <a:rPr sz="1500">
                <a:solidFill>
                  <a:srgbClr val="555555"/>
                </a:solidFill>
                <a:latin typeface="Calibri"/>
              </a:rPr>
              <a:t>•  Do not edit Close Date. Use Projected Close Date for forecasting.</a:t>
            </a:r>
          </a:p>
          <a:p>
            <a:pPr>
              <a:spcAft>
                <a:spcPts val="600"/>
              </a:spcAft>
            </a:pPr>
            <a:r>
              <a:rPr sz="1500">
                <a:solidFill>
                  <a:srgbClr val="555555"/>
                </a:solidFill>
                <a:latin typeface="Calibri"/>
              </a:rPr>
              <a:t>•  Reuse existing Contacts before creating new ones.</a:t>
            </a:r>
          </a:p>
          <a:p>
            <a:pPr>
              <a:spcAft>
                <a:spcPts val="600"/>
              </a:spcAft>
            </a:pPr>
            <a:r>
              <a:rPr sz="1500">
                <a:solidFill>
                  <a:srgbClr val="555555"/>
                </a:solidFill>
                <a:latin typeface="Calibri"/>
              </a:rPr>
              <a:t>•  Use Notes for every conversation. Pipeline reviews depend on it.</a:t>
            </a:r>
          </a:p>
          <a:p>
            <a:pPr>
              <a:spcAft>
                <a:spcPts val="600"/>
              </a:spcAft>
            </a:pPr>
            <a:r>
              <a:rPr sz="1500">
                <a:solidFill>
                  <a:srgbClr val="555555"/>
                </a:solidFill>
                <a:latin typeface="Calibri"/>
              </a:rPr>
              <a:t>•  Move the Stage when reality changes. Stale stages are worse than empty ones.</a:t>
            </a:r>
          </a:p>
        </p:txBody>
      </p:sp>
      <p:sp>
        <p:nvSpPr>
          <p:cNvPr id="8" name="TextBox 7"/>
          <p:cNvSpPr txBox="1"/>
          <p:nvPr/>
        </p:nvSpPr>
        <p:spPr>
          <a:xfrm>
            <a:off x="457200" y="4206240"/>
            <a:ext cx="11247120" cy="365760"/>
          </a:xfrm>
          <a:prstGeom prst="rect">
            <a:avLst/>
          </a:prstGeom>
          <a:noFill/>
        </p:spPr>
        <p:txBody>
          <a:bodyPr wrap="square" lIns="45720" rIns="45720" tIns="18288" bIns="18288" anchor="t">
            <a:spAutoFit/>
          </a:bodyPr>
          <a:lstStyle/>
          <a:p>
            <a:pPr algn="l"/>
            <a:r>
              <a:rPr sz="1800" b="1">
                <a:solidFill>
                  <a:srgbClr val="2E7D32"/>
                </a:solidFill>
                <a:latin typeface="Calibri"/>
              </a:rPr>
              <a:t>If something looks wrong</a:t>
            </a:r>
          </a:p>
        </p:txBody>
      </p:sp>
      <p:sp>
        <p:nvSpPr>
          <p:cNvPr id="9" name="TextBox 8"/>
          <p:cNvSpPr txBox="1"/>
          <p:nvPr/>
        </p:nvSpPr>
        <p:spPr>
          <a:xfrm>
            <a:off x="640080" y="4663440"/>
            <a:ext cx="10972800" cy="1828800"/>
          </a:xfrm>
          <a:prstGeom prst="rect">
            <a:avLst/>
          </a:prstGeom>
          <a:noFill/>
        </p:spPr>
        <p:txBody>
          <a:bodyPr wrap="square" lIns="45720" rIns="45720">
            <a:spAutoFit/>
          </a:bodyPr>
          <a:lstStyle/>
          <a:p>
            <a:pPr>
              <a:spcAft>
                <a:spcPts val="600"/>
              </a:spcAft>
            </a:pPr>
            <a:r>
              <a:rPr sz="1400">
                <a:solidFill>
                  <a:srgbClr val="555555"/>
                </a:solidFill>
                <a:latin typeface="Calibri"/>
              </a:rPr>
              <a:t>•  Cannot find an Opp? Check Closed Lost and On Hold filters.</a:t>
            </a:r>
          </a:p>
          <a:p>
            <a:pPr>
              <a:spcAft>
                <a:spcPts val="600"/>
              </a:spcAft>
            </a:pPr>
            <a:r>
              <a:rPr sz="1400">
                <a:solidFill>
                  <a:srgbClr val="555555"/>
                </a:solidFill>
                <a:latin typeface="Calibri"/>
              </a:rPr>
              <a:t>•  Contact on the wrong Account? Fix the Contact, not the Opp link.</a:t>
            </a:r>
          </a:p>
          <a:p>
            <a:pPr>
              <a:spcAft>
                <a:spcPts val="600"/>
              </a:spcAft>
            </a:pPr>
            <a:r>
              <a:rPr sz="1400">
                <a:solidFill>
                  <a:srgbClr val="555555"/>
                </a:solidFill>
                <a:latin typeface="Calibri"/>
              </a:rPr>
              <a:t>•  Missing SiteTracker link on a built property? Send the property name to Cass.</a:t>
            </a:r>
          </a:p>
          <a:p>
            <a:pPr>
              <a:spcAft>
                <a:spcPts val="600"/>
              </a:spcAft>
            </a:pPr>
            <a:r>
              <a:rPr sz="1400">
                <a:solidFill>
                  <a:srgbClr val="555555"/>
                </a:solidFill>
                <a:latin typeface="Calibri"/>
              </a:rPr>
              <a:t>•  Validation rule blocking you? Screenshot the error, ping Cass, do not work around it.</a:t>
            </a:r>
          </a:p>
        </p:txBody>
      </p:sp>
      <p:sp>
        <p:nvSpPr>
          <p:cNvPr id="10" name="TextBox 9"/>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1" name="TextBox 10"/>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10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2743200" cy="3200400"/>
          </a:xfrm>
          <a:prstGeom prst="rect">
            <a:avLst/>
          </a:prstGeom>
          <a:noFill/>
        </p:spPr>
        <p:txBody>
          <a:bodyPr wrap="square" lIns="45720" rIns="45720" tIns="18288" bIns="18288" anchor="t">
            <a:spAutoFit/>
          </a:bodyPr>
          <a:lstStyle/>
          <a:p>
            <a:pPr algn="l"/>
            <a:r>
              <a:rPr sz="18000" b="1">
                <a:solidFill>
                  <a:srgbClr val="2E7D32"/>
                </a:solidFill>
                <a:latin typeface="Calibri"/>
              </a:rPr>
              <a:t>11</a:t>
            </a:r>
          </a:p>
        </p:txBody>
      </p:sp>
      <p:sp>
        <p:nvSpPr>
          <p:cNvPr id="4" name="TextBox 3"/>
          <p:cNvSpPr txBox="1"/>
          <p:nvPr/>
        </p:nvSpPr>
        <p:spPr>
          <a:xfrm>
            <a:off x="3657600" y="2377440"/>
            <a:ext cx="7955279" cy="914400"/>
          </a:xfrm>
          <a:prstGeom prst="rect">
            <a:avLst/>
          </a:prstGeom>
          <a:noFill/>
        </p:spPr>
        <p:txBody>
          <a:bodyPr wrap="square" lIns="45720" rIns="45720" tIns="18288" bIns="18288" anchor="t">
            <a:spAutoFit/>
          </a:bodyPr>
          <a:lstStyle/>
          <a:p>
            <a:pPr algn="l"/>
            <a:r>
              <a:rPr sz="4400" b="1">
                <a:solidFill>
                  <a:srgbClr val="FFFFFF"/>
                </a:solidFill>
                <a:latin typeface="Calibri"/>
              </a:rPr>
              <a:t>What is coming next</a:t>
            </a:r>
          </a:p>
        </p:txBody>
      </p:sp>
      <p:sp>
        <p:nvSpPr>
          <p:cNvPr id="5" name="TextBox 4"/>
          <p:cNvSpPr txBox="1"/>
          <p:nvPr/>
        </p:nvSpPr>
        <p:spPr>
          <a:xfrm>
            <a:off x="3657600" y="3383280"/>
            <a:ext cx="7955279" cy="1828800"/>
          </a:xfrm>
          <a:prstGeom prst="rect">
            <a:avLst/>
          </a:prstGeom>
          <a:noFill/>
        </p:spPr>
        <p:txBody>
          <a:bodyPr wrap="square" lIns="45720" rIns="45720" tIns="18288" bIns="18288" anchor="t">
            <a:spAutoFit/>
          </a:bodyPr>
          <a:lstStyle/>
          <a:p>
            <a:pPr algn="l"/>
            <a:r>
              <a:rPr sz="1800" b="0">
                <a:solidFill>
                  <a:srgbClr val="E8EEF7"/>
                </a:solidFill>
                <a:latin typeface="Calibri"/>
              </a:rPr>
              <a:t>Where this is going over the next few months.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11</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Coming next</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972800" cy="5029200"/>
          </a:xfrm>
          <a:prstGeom prst="rect">
            <a:avLst/>
          </a:prstGeom>
          <a:noFill/>
        </p:spPr>
        <p:txBody>
          <a:bodyPr wrap="square" lIns="45720" rIns="45720">
            <a:spAutoFit/>
          </a:bodyPr>
          <a:lstStyle/>
          <a:p>
            <a:pPr>
              <a:spcAft>
                <a:spcPts val="600"/>
              </a:spcAft>
            </a:pPr>
            <a:r>
              <a:rPr sz="1700" b="1">
                <a:solidFill>
                  <a:srgbClr val="1F3A68"/>
                </a:solidFill>
                <a:latin typeface="Calibri"/>
              </a:rPr>
              <a:t>•  IronClad sync: </a:t>
            </a:r>
            <a:r>
              <a:rPr sz="1700">
                <a:solidFill>
                  <a:srgbClr val="555555"/>
                </a:solidFill>
                <a:latin typeface="Calibri"/>
              </a:rPr>
              <a:t>agreement status flows automatically once API access lands.</a:t>
            </a:r>
          </a:p>
          <a:p>
            <a:pPr>
              <a:spcAft>
                <a:spcPts val="600"/>
              </a:spcAft>
            </a:pPr>
            <a:r>
              <a:rPr sz="1700" b="1">
                <a:solidFill>
                  <a:srgbClr val="1F3A68"/>
                </a:solidFill>
                <a:latin typeface="Calibri"/>
              </a:rPr>
              <a:t>•  Monday.com retirement: </a:t>
            </a:r>
            <a:r>
              <a:rPr sz="1700">
                <a:solidFill>
                  <a:srgbClr val="555555"/>
                </a:solidFill>
                <a:latin typeface="Calibri"/>
              </a:rPr>
              <a:t>once the team is comfortable here, Monday.com goes away for MDU.</a:t>
            </a:r>
          </a:p>
          <a:p>
            <a:pPr>
              <a:spcAft>
                <a:spcPts val="600"/>
              </a:spcAft>
            </a:pPr>
            <a:r>
              <a:rPr sz="1700" b="1">
                <a:solidFill>
                  <a:srgbClr val="1F3A68"/>
                </a:solidFill>
                <a:latin typeface="Calibri"/>
              </a:rPr>
              <a:t>•  ROE &amp; SAQ Excel trackers fold in: </a:t>
            </a:r>
            <a:r>
              <a:rPr sz="1700">
                <a:solidFill>
                  <a:srgbClr val="555555"/>
                </a:solidFill>
                <a:latin typeface="Calibri"/>
              </a:rPr>
              <a:t>become Salesforce reports backed by Agreement records.</a:t>
            </a:r>
          </a:p>
          <a:p>
            <a:pPr>
              <a:spcAft>
                <a:spcPts val="600"/>
              </a:spcAft>
            </a:pPr>
            <a:r>
              <a:rPr sz="1700" b="1">
                <a:solidFill>
                  <a:srgbClr val="1F3A68"/>
                </a:solidFill>
                <a:latin typeface="Calibri"/>
              </a:rPr>
              <a:t>•  Investor PAL report: </a:t>
            </a:r>
            <a:r>
              <a:rPr sz="1700">
                <a:solidFill>
                  <a:srgbClr val="555555"/>
                </a:solidFill>
                <a:latin typeface="Calibri"/>
              </a:rPr>
              <a:t>a PAL pipeline tile on the MDU home page for fundraising.</a:t>
            </a:r>
          </a:p>
          <a:p>
            <a:pPr>
              <a:spcAft>
                <a:spcPts val="600"/>
              </a:spcAft>
            </a:pPr>
            <a:r>
              <a:rPr sz="1700" b="1">
                <a:solidFill>
                  <a:srgbClr val="1F3A68"/>
                </a:solidFill>
                <a:latin typeface="Calibri"/>
              </a:rPr>
              <a:t>•  Tracker enhancements: </a:t>
            </a:r>
            <a:r>
              <a:rPr sz="1700">
                <a:solidFill>
                  <a:srgbClr val="555555"/>
                </a:solidFill>
                <a:latin typeface="Calibri"/>
              </a:rPr>
              <a:t>more filters, saved views per user, deeper SiteTracker integration.</a:t>
            </a:r>
          </a:p>
        </p:txBody>
      </p:sp>
      <p:sp>
        <p:nvSpPr>
          <p:cNvPr id="7" name="TextBox 6"/>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8" name="TextBox 7"/>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11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2743200" cy="3200400"/>
          </a:xfrm>
          <a:prstGeom prst="rect">
            <a:avLst/>
          </a:prstGeom>
          <a:noFill/>
        </p:spPr>
        <p:txBody>
          <a:bodyPr wrap="square" lIns="45720" rIns="45720" tIns="18288" bIns="18288" anchor="t">
            <a:spAutoFit/>
          </a:bodyPr>
          <a:lstStyle/>
          <a:p>
            <a:pPr algn="l"/>
            <a:r>
              <a:rPr sz="18000" b="1">
                <a:solidFill>
                  <a:srgbClr val="2E7D32"/>
                </a:solidFill>
                <a:latin typeface="Calibri"/>
              </a:rPr>
              <a:t>12</a:t>
            </a:r>
          </a:p>
        </p:txBody>
      </p:sp>
      <p:sp>
        <p:nvSpPr>
          <p:cNvPr id="4" name="TextBox 3"/>
          <p:cNvSpPr txBox="1"/>
          <p:nvPr/>
        </p:nvSpPr>
        <p:spPr>
          <a:xfrm>
            <a:off x="3657600" y="2377440"/>
            <a:ext cx="7955279" cy="914400"/>
          </a:xfrm>
          <a:prstGeom prst="rect">
            <a:avLst/>
          </a:prstGeom>
          <a:noFill/>
        </p:spPr>
        <p:txBody>
          <a:bodyPr wrap="square" lIns="45720" rIns="45720" tIns="18288" bIns="18288" anchor="t">
            <a:spAutoFit/>
          </a:bodyPr>
          <a:lstStyle/>
          <a:p>
            <a:pPr algn="l"/>
            <a:r>
              <a:rPr sz="4400" b="1">
                <a:solidFill>
                  <a:srgbClr val="FFFFFF"/>
                </a:solidFill>
                <a:latin typeface="Calibri"/>
              </a:rPr>
              <a:t>Quick reference</a:t>
            </a:r>
          </a:p>
        </p:txBody>
      </p:sp>
      <p:sp>
        <p:nvSpPr>
          <p:cNvPr id="5" name="TextBox 4"/>
          <p:cNvSpPr txBox="1"/>
          <p:nvPr/>
        </p:nvSpPr>
        <p:spPr>
          <a:xfrm>
            <a:off x="3657600" y="3383280"/>
            <a:ext cx="7955279" cy="1828800"/>
          </a:xfrm>
          <a:prstGeom prst="rect">
            <a:avLst/>
          </a:prstGeom>
          <a:noFill/>
        </p:spPr>
        <p:txBody>
          <a:bodyPr wrap="square" lIns="45720" rIns="45720" tIns="18288" bIns="18288" anchor="t">
            <a:spAutoFit/>
          </a:bodyPr>
          <a:lstStyle/>
          <a:p>
            <a:pPr algn="l"/>
            <a:r>
              <a:rPr sz="1800" b="0">
                <a:solidFill>
                  <a:srgbClr val="E8EEF7"/>
                </a:solidFill>
                <a:latin typeface="Calibri"/>
              </a:rPr>
              <a:t>The cheat-sheet you keep at your desk.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12</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Required fields + escalation</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365760"/>
          </a:xfrm>
          <a:prstGeom prst="rect">
            <a:avLst/>
          </a:prstGeom>
          <a:noFill/>
        </p:spPr>
        <p:txBody>
          <a:bodyPr wrap="square" lIns="45720" rIns="45720" tIns="18288" bIns="18288" anchor="t">
            <a:spAutoFit/>
          </a:bodyPr>
          <a:lstStyle/>
          <a:p>
            <a:pPr algn="l"/>
            <a:r>
              <a:rPr sz="1800" b="1">
                <a:solidFill>
                  <a:srgbClr val="2E7D32"/>
                </a:solidFill>
                <a:latin typeface="Calibri"/>
              </a:rPr>
              <a:t>Required when you change Stage</a:t>
            </a:r>
          </a:p>
        </p:txBody>
      </p:sp>
      <p:graphicFrame>
        <p:nvGraphicFramePr>
          <p:cNvPr id="7" name="Table 6"/>
          <p:cNvGraphicFramePr>
            <a:graphicFrameLocks noGrp="1"/>
          </p:cNvGraphicFramePr>
          <p:nvPr/>
        </p:nvGraphicFramePr>
        <p:xfrm>
          <a:off x="457200" y="1828800"/>
          <a:ext cx="11247120" cy="2286000"/>
        </p:xfrm>
        <a:graphic>
          <a:graphicData uri="http://schemas.openxmlformats.org/drawingml/2006/table">
            <a:tbl>
              <a:tblPr firstRow="1" bandRow="1">
                <a:tableStyleId>{5C22544A-7EE6-4342-B048-85BDC9FD1C3A}</a:tableStyleId>
              </a:tblPr>
              <a:tblGrid>
                <a:gridCol w="5623560"/>
                <a:gridCol w="5623560"/>
              </a:tblGrid>
              <a:tr h="457200">
                <a:tc>
                  <a:txBody>
                    <a:bodyPr/>
                    <a:lstStyle/>
                    <a:p>
                      <a:r>
                        <a:rPr sz="1400" b="1">
                          <a:solidFill>
                            <a:srgbClr val="FFFFFF"/>
                          </a:solidFill>
                          <a:latin typeface="Calibri"/>
                        </a:rPr>
                        <a:t>Stage</a:t>
                      </a:r>
                    </a:p>
                  </a:txBody>
                  <a:tcPr>
                    <a:solidFill>
                      <a:srgbClr val="1F3A68"/>
                    </a:solidFill>
                  </a:tcPr>
                </a:tc>
                <a:tc>
                  <a:txBody>
                    <a:bodyPr/>
                    <a:lstStyle/>
                    <a:p>
                      <a:r>
                        <a:rPr sz="1400" b="1">
                          <a:solidFill>
                            <a:srgbClr val="FFFFFF"/>
                          </a:solidFill>
                          <a:latin typeface="Calibri"/>
                        </a:rPr>
                        <a:t>Required field</a:t>
                      </a:r>
                    </a:p>
                  </a:txBody>
                  <a:tcPr>
                    <a:solidFill>
                      <a:srgbClr val="1F3A68"/>
                    </a:solidFill>
                  </a:tcPr>
                </a:tc>
              </a:tr>
              <a:tr h="457200">
                <a:tc>
                  <a:txBody>
                    <a:bodyPr wrap="square"/>
                    <a:lstStyle/>
                    <a:p>
                      <a:r>
                        <a:rPr sz="1300">
                          <a:solidFill>
                            <a:srgbClr val="555555"/>
                          </a:solidFill>
                          <a:latin typeface="Calibri"/>
                        </a:rPr>
                        <a:t>Prospecting</a:t>
                      </a:r>
                    </a:p>
                  </a:txBody>
                  <a:tcPr>
                    <a:solidFill>
                      <a:srgbClr val="F5F8FD"/>
                    </a:solidFill>
                  </a:tcPr>
                </a:tc>
                <a:tc>
                  <a:txBody>
                    <a:bodyPr wrap="square"/>
                    <a:lstStyle/>
                    <a:p>
                      <a:r>
                        <a:rPr sz="1300">
                          <a:solidFill>
                            <a:srgbClr val="555555"/>
                          </a:solidFill>
                          <a:latin typeface="Calibri"/>
                        </a:rPr>
                        <a:t>Sales Status</a:t>
                      </a:r>
                    </a:p>
                  </a:txBody>
                  <a:tcPr>
                    <a:solidFill>
                      <a:srgbClr val="F5F8FD"/>
                    </a:solidFill>
                  </a:tcPr>
                </a:tc>
              </a:tr>
              <a:tr h="457200">
                <a:tc>
                  <a:txBody>
                    <a:bodyPr wrap="square"/>
                    <a:lstStyle/>
                    <a:p>
                      <a:r>
                        <a:rPr sz="1300">
                          <a:solidFill>
                            <a:srgbClr val="555555"/>
                          </a:solidFill>
                          <a:latin typeface="Calibri"/>
                        </a:rPr>
                        <a:t>On Hold</a:t>
                      </a:r>
                    </a:p>
                  </a:txBody>
                  <a:tcPr>
                    <a:solidFill>
                      <a:srgbClr val="FFFFFF"/>
                    </a:solidFill>
                  </a:tcPr>
                </a:tc>
                <a:tc>
                  <a:txBody>
                    <a:bodyPr wrap="square"/>
                    <a:lstStyle/>
                    <a:p>
                      <a:r>
                        <a:rPr sz="1300">
                          <a:solidFill>
                            <a:srgbClr val="555555"/>
                          </a:solidFill>
                          <a:latin typeface="Calibri"/>
                        </a:rPr>
                        <a:t>Hold Reason</a:t>
                      </a:r>
                    </a:p>
                  </a:txBody>
                  <a:tcPr>
                    <a:solidFill>
                      <a:srgbClr val="FFFFFF"/>
                    </a:solidFill>
                  </a:tcPr>
                </a:tc>
              </a:tr>
              <a:tr h="457200">
                <a:tc>
                  <a:txBody>
                    <a:bodyPr wrap="square"/>
                    <a:lstStyle/>
                    <a:p>
                      <a:r>
                        <a:rPr sz="1300">
                          <a:solidFill>
                            <a:srgbClr val="555555"/>
                          </a:solidFill>
                          <a:latin typeface="Calibri"/>
                        </a:rPr>
                        <a:t>Closed Lost</a:t>
                      </a:r>
                    </a:p>
                  </a:txBody>
                  <a:tcPr>
                    <a:solidFill>
                      <a:srgbClr val="F5F8FD"/>
                    </a:solidFill>
                  </a:tcPr>
                </a:tc>
                <a:tc>
                  <a:txBody>
                    <a:bodyPr wrap="square"/>
                    <a:lstStyle/>
                    <a:p>
                      <a:r>
                        <a:rPr sz="1300">
                          <a:solidFill>
                            <a:srgbClr val="555555"/>
                          </a:solidFill>
                          <a:latin typeface="Calibri"/>
                        </a:rPr>
                        <a:t>Loss Reason</a:t>
                      </a:r>
                    </a:p>
                  </a:txBody>
                  <a:tcPr>
                    <a:solidFill>
                      <a:srgbClr val="F5F8FD"/>
                    </a:solidFill>
                  </a:tcPr>
                </a:tc>
              </a:tr>
              <a:tr h="457200">
                <a:tc>
                  <a:txBody>
                    <a:bodyPr wrap="square"/>
                    <a:lstStyle/>
                    <a:p>
                      <a:r>
                        <a:rPr sz="1300">
                          <a:solidFill>
                            <a:srgbClr val="555555"/>
                          </a:solidFill>
                          <a:latin typeface="Calibri"/>
                        </a:rPr>
                        <a:t>Under Contract</a:t>
                      </a:r>
                    </a:p>
                  </a:txBody>
                  <a:tcPr>
                    <a:solidFill>
                      <a:srgbClr val="FFFFFF"/>
                    </a:solidFill>
                  </a:tcPr>
                </a:tc>
                <a:tc>
                  <a:txBody>
                    <a:bodyPr wrap="square"/>
                    <a:lstStyle/>
                    <a:p>
                      <a:r>
                        <a:rPr sz="1300">
                          <a:solidFill>
                            <a:srgbClr val="555555"/>
                          </a:solidFill>
                          <a:latin typeface="Calibri"/>
                        </a:rPr>
                        <a:t>PAL Agreement marked Signed</a:t>
                      </a:r>
                    </a:p>
                  </a:txBody>
                  <a:tcPr>
                    <a:solidFill>
                      <a:srgbClr val="FFFFFF"/>
                    </a:solidFill>
                  </a:tcPr>
                </a:tc>
              </a:tr>
            </a:tbl>
          </a:graphicData>
        </a:graphic>
      </p:graphicFrame>
      <p:sp>
        <p:nvSpPr>
          <p:cNvPr id="8" name="TextBox 7"/>
          <p:cNvSpPr txBox="1"/>
          <p:nvPr/>
        </p:nvSpPr>
        <p:spPr>
          <a:xfrm>
            <a:off x="457200" y="4389120"/>
            <a:ext cx="11247120" cy="365760"/>
          </a:xfrm>
          <a:prstGeom prst="rect">
            <a:avLst/>
          </a:prstGeom>
          <a:noFill/>
        </p:spPr>
        <p:txBody>
          <a:bodyPr wrap="square" lIns="45720" rIns="45720" tIns="18288" bIns="18288" anchor="t">
            <a:spAutoFit/>
          </a:bodyPr>
          <a:lstStyle/>
          <a:p>
            <a:pPr algn="l"/>
            <a:r>
              <a:rPr sz="1800" b="1">
                <a:solidFill>
                  <a:srgbClr val="2E7D32"/>
                </a:solidFill>
                <a:latin typeface="Calibri"/>
              </a:rPr>
              <a:t>Who to ask</a:t>
            </a:r>
          </a:p>
        </p:txBody>
      </p:sp>
      <p:sp>
        <p:nvSpPr>
          <p:cNvPr id="9" name="TextBox 8"/>
          <p:cNvSpPr txBox="1"/>
          <p:nvPr/>
        </p:nvSpPr>
        <p:spPr>
          <a:xfrm>
            <a:off x="640080" y="4846320"/>
            <a:ext cx="10972800" cy="1554480"/>
          </a:xfrm>
          <a:prstGeom prst="rect">
            <a:avLst/>
          </a:prstGeom>
          <a:noFill/>
        </p:spPr>
        <p:txBody>
          <a:bodyPr wrap="square" lIns="45720" rIns="45720">
            <a:spAutoFit/>
          </a:bodyPr>
          <a:lstStyle/>
          <a:p>
            <a:pPr>
              <a:spcAft>
                <a:spcPts val="600"/>
              </a:spcAft>
            </a:pPr>
            <a:r>
              <a:rPr sz="1400" b="1">
                <a:solidFill>
                  <a:srgbClr val="1F3A68"/>
                </a:solidFill>
                <a:latin typeface="Calibri"/>
              </a:rPr>
              <a:t>•  Salesforce questions, validation errors, missing data: </a:t>
            </a:r>
            <a:r>
              <a:rPr sz="1400">
                <a:solidFill>
                  <a:srgbClr val="555555"/>
                </a:solidFill>
                <a:latin typeface="Calibri"/>
              </a:rPr>
              <a:t>Cass</a:t>
            </a:r>
          </a:p>
          <a:p>
            <a:pPr>
              <a:spcAft>
                <a:spcPts val="600"/>
              </a:spcAft>
            </a:pPr>
            <a:r>
              <a:rPr sz="1400" b="1">
                <a:solidFill>
                  <a:srgbClr val="1F3A68"/>
                </a:solidFill>
                <a:latin typeface="Calibri"/>
              </a:rPr>
              <a:t>•  Agreement language and IronClad: </a:t>
            </a:r>
            <a:r>
              <a:rPr sz="1400">
                <a:solidFill>
                  <a:srgbClr val="555555"/>
                </a:solidFill>
                <a:latin typeface="Calibri"/>
              </a:rPr>
              <a:t>Taylor</a:t>
            </a:r>
          </a:p>
          <a:p>
            <a:pPr>
              <a:spcAft>
                <a:spcPts val="600"/>
              </a:spcAft>
            </a:pPr>
            <a:r>
              <a:rPr sz="1400" b="1">
                <a:solidFill>
                  <a:srgbClr val="1F3A68"/>
                </a:solidFill>
                <a:latin typeface="Calibri"/>
              </a:rPr>
              <a:t>•  SiteTracker / build status: </a:t>
            </a:r>
            <a:r>
              <a:rPr sz="1400">
                <a:solidFill>
                  <a:srgbClr val="555555"/>
                </a:solidFill>
                <a:latin typeface="Calibri"/>
              </a:rPr>
              <a:t>Engineering team</a:t>
            </a:r>
          </a:p>
          <a:p>
            <a:pPr>
              <a:spcAft>
                <a:spcPts val="600"/>
              </a:spcAft>
            </a:pPr>
            <a:r>
              <a:rPr sz="1400" b="1">
                <a:solidFill>
                  <a:srgbClr val="1F3A68"/>
                </a:solidFill>
                <a:latin typeface="Calibri"/>
              </a:rPr>
              <a:t>•  Pipeline strategy and stage definitions: </a:t>
            </a:r>
            <a:r>
              <a:rPr sz="1400">
                <a:solidFill>
                  <a:srgbClr val="555555"/>
                </a:solidFill>
                <a:latin typeface="Calibri"/>
              </a:rPr>
              <a:t>your sales lead</a:t>
            </a:r>
          </a:p>
        </p:txBody>
      </p:sp>
      <p:sp>
        <p:nvSpPr>
          <p:cNvPr id="10" name="TextBox 9"/>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11" name="TextBox 10"/>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12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274320"/>
          </a:xfrm>
          <a:prstGeom prst="rect">
            <a:avLst/>
          </a:prstGeom>
          <a:noFill/>
        </p:spPr>
        <p:txBody>
          <a:bodyPr wrap="square" lIns="45720" rIns="45720" tIns="18288" bIns="18288" anchor="t">
            <a:spAutoFit/>
          </a:bodyPr>
          <a:lstStyle/>
          <a:p>
            <a:pPr algn="l"/>
            <a:r>
              <a:rPr sz="1200" b="1">
                <a:solidFill>
                  <a:srgbClr val="2E7D32"/>
                </a:solidFill>
                <a:latin typeface="Calibri"/>
              </a:rPr>
              <a:t>SECTION 12</a:t>
            </a:r>
          </a:p>
        </p:txBody>
      </p:sp>
      <p:sp>
        <p:nvSpPr>
          <p:cNvPr id="4" name="TextBox 3"/>
          <p:cNvSpPr txBox="1"/>
          <p:nvPr/>
        </p:nvSpPr>
        <p:spPr>
          <a:xfrm>
            <a:off x="457200" y="502920"/>
            <a:ext cx="11247120" cy="640080"/>
          </a:xfrm>
          <a:prstGeom prst="rect">
            <a:avLst/>
          </a:prstGeom>
          <a:noFill/>
        </p:spPr>
        <p:txBody>
          <a:bodyPr wrap="square" lIns="45720" rIns="45720" tIns="18288" bIns="18288" anchor="t">
            <a:spAutoFit/>
          </a:bodyPr>
          <a:lstStyle/>
          <a:p>
            <a:pPr algn="l"/>
            <a:r>
              <a:rPr sz="3000" b="1">
                <a:solidFill>
                  <a:srgbClr val="1F3A68"/>
                </a:solidFill>
                <a:latin typeface="Calibri"/>
              </a:rPr>
              <a:t>Where things live</a:t>
            </a:r>
          </a:p>
        </p:txBody>
      </p:sp>
      <p:sp>
        <p:nvSpPr>
          <p:cNvPr id="5" name="Rectangle 4"/>
          <p:cNvSpPr/>
          <p:nvPr/>
        </p:nvSpPr>
        <p:spPr>
          <a:xfrm>
            <a:off x="457200" y="1143000"/>
            <a:ext cx="109728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47120" cy="365760"/>
          </a:xfrm>
          <a:prstGeom prst="rect">
            <a:avLst/>
          </a:prstGeom>
          <a:noFill/>
        </p:spPr>
        <p:txBody>
          <a:bodyPr wrap="square" lIns="45720" rIns="45720" tIns="18288" bIns="18288" anchor="t">
            <a:spAutoFit/>
          </a:bodyPr>
          <a:lstStyle/>
          <a:p>
            <a:pPr algn="l"/>
            <a:r>
              <a:rPr sz="1800" b="1">
                <a:solidFill>
                  <a:srgbClr val="2E7D32"/>
                </a:solidFill>
                <a:latin typeface="Calibri"/>
              </a:rPr>
              <a:t>Where things live</a:t>
            </a:r>
          </a:p>
        </p:txBody>
      </p:sp>
      <p:graphicFrame>
        <p:nvGraphicFramePr>
          <p:cNvPr id="7" name="Table 6"/>
          <p:cNvGraphicFramePr>
            <a:graphicFrameLocks noGrp="1"/>
          </p:cNvGraphicFramePr>
          <p:nvPr/>
        </p:nvGraphicFramePr>
        <p:xfrm>
          <a:off x="457200" y="1828800"/>
          <a:ext cx="11247120" cy="4389120"/>
        </p:xfrm>
        <a:graphic>
          <a:graphicData uri="http://schemas.openxmlformats.org/drawingml/2006/table">
            <a:tbl>
              <a:tblPr firstRow="1" bandRow="1">
                <a:tableStyleId>{5C22544A-7EE6-4342-B048-85BDC9FD1C3A}</a:tableStyleId>
              </a:tblPr>
              <a:tblGrid>
                <a:gridCol w="5623560"/>
                <a:gridCol w="5623560"/>
              </a:tblGrid>
              <a:tr h="548640">
                <a:tc>
                  <a:txBody>
                    <a:bodyPr/>
                    <a:lstStyle/>
                    <a:p>
                      <a:r>
                        <a:rPr sz="1400" b="1">
                          <a:solidFill>
                            <a:srgbClr val="FFFFFF"/>
                          </a:solidFill>
                          <a:latin typeface="Calibri"/>
                        </a:rPr>
                        <a:t>If you want to...</a:t>
                      </a:r>
                    </a:p>
                  </a:txBody>
                  <a:tcPr>
                    <a:solidFill>
                      <a:srgbClr val="1F3A68"/>
                    </a:solidFill>
                  </a:tcPr>
                </a:tc>
                <a:tc>
                  <a:txBody>
                    <a:bodyPr/>
                    <a:lstStyle/>
                    <a:p>
                      <a:r>
                        <a:rPr sz="1400" b="1">
                          <a:solidFill>
                            <a:srgbClr val="FFFFFF"/>
                          </a:solidFill>
                          <a:latin typeface="Calibri"/>
                        </a:rPr>
                        <a:t>Go to...</a:t>
                      </a:r>
                    </a:p>
                  </a:txBody>
                  <a:tcPr>
                    <a:solidFill>
                      <a:srgbClr val="1F3A68"/>
                    </a:solidFill>
                  </a:tcPr>
                </a:tc>
              </a:tr>
              <a:tr h="548640">
                <a:tc>
                  <a:txBody>
                    <a:bodyPr wrap="square"/>
                    <a:lstStyle/>
                    <a:p>
                      <a:r>
                        <a:rPr sz="1300">
                          <a:solidFill>
                            <a:srgbClr val="555555"/>
                          </a:solidFill>
                          <a:latin typeface="Calibri"/>
                        </a:rPr>
                        <a:t>See your pipeline at a glance</a:t>
                      </a:r>
                    </a:p>
                  </a:txBody>
                  <a:tcPr>
                    <a:solidFill>
                      <a:srgbClr val="F5F8FD"/>
                    </a:solidFill>
                  </a:tcPr>
                </a:tc>
                <a:tc>
                  <a:txBody>
                    <a:bodyPr wrap="square"/>
                    <a:lstStyle/>
                    <a:p>
                      <a:r>
                        <a:rPr sz="1300">
                          <a:solidFill>
                            <a:srgbClr val="555555"/>
                          </a:solidFill>
                          <a:latin typeface="Calibri"/>
                        </a:rPr>
                        <a:t>MDU Sales Dashboard</a:t>
                      </a:r>
                    </a:p>
                  </a:txBody>
                  <a:tcPr>
                    <a:solidFill>
                      <a:srgbClr val="F5F8FD"/>
                    </a:solidFill>
                  </a:tcPr>
                </a:tc>
              </a:tr>
              <a:tr h="548640">
                <a:tc>
                  <a:txBody>
                    <a:bodyPr wrap="square"/>
                    <a:lstStyle/>
                    <a:p>
                      <a:r>
                        <a:rPr sz="1300">
                          <a:solidFill>
                            <a:srgbClr val="555555"/>
                          </a:solidFill>
                          <a:latin typeface="Calibri"/>
                        </a:rPr>
                        <a:t>Walk every active Opp in your name</a:t>
                      </a:r>
                    </a:p>
                  </a:txBody>
                  <a:tcPr>
                    <a:solidFill>
                      <a:srgbClr val="FFFFFF"/>
                    </a:solidFill>
                  </a:tcPr>
                </a:tc>
                <a:tc>
                  <a:txBody>
                    <a:bodyPr wrap="square"/>
                    <a:lstStyle/>
                    <a:p>
                      <a:r>
                        <a:rPr sz="1300">
                          <a:solidFill>
                            <a:srgbClr val="555555"/>
                          </a:solidFill>
                          <a:latin typeface="Calibri"/>
                        </a:rPr>
                        <a:t>MDU Tracker, filter by Owner = you</a:t>
                      </a:r>
                    </a:p>
                  </a:txBody>
                  <a:tcPr>
                    <a:solidFill>
                      <a:srgbClr val="FFFFFF"/>
                    </a:solidFill>
                  </a:tcPr>
                </a:tc>
              </a:tr>
              <a:tr h="548640">
                <a:tc>
                  <a:txBody>
                    <a:bodyPr wrap="square"/>
                    <a:lstStyle/>
                    <a:p>
                      <a:r>
                        <a:rPr sz="1300">
                          <a:solidFill>
                            <a:srgbClr val="555555"/>
                          </a:solidFill>
                          <a:latin typeface="Calibri"/>
                        </a:rPr>
                        <a:t>See agreements in flight</a:t>
                      </a:r>
                    </a:p>
                  </a:txBody>
                  <a:tcPr>
                    <a:solidFill>
                      <a:srgbClr val="F5F8FD"/>
                    </a:solidFill>
                  </a:tcPr>
                </a:tc>
                <a:tc>
                  <a:txBody>
                    <a:bodyPr wrap="square"/>
                    <a:lstStyle/>
                    <a:p>
                      <a:r>
                        <a:rPr sz="1300">
                          <a:solidFill>
                            <a:srgbClr val="555555"/>
                          </a:solidFill>
                          <a:latin typeface="Calibri"/>
                        </a:rPr>
                        <a:t>Agreements tab, MDU Agreements list view</a:t>
                      </a:r>
                    </a:p>
                  </a:txBody>
                  <a:tcPr>
                    <a:solidFill>
                      <a:srgbClr val="F5F8FD"/>
                    </a:solidFill>
                  </a:tcPr>
                </a:tc>
              </a:tr>
              <a:tr h="548640">
                <a:tc>
                  <a:txBody>
                    <a:bodyPr wrap="square"/>
                    <a:lstStyle/>
                    <a:p>
                      <a:r>
                        <a:rPr sz="1300">
                          <a:solidFill>
                            <a:srgbClr val="555555"/>
                          </a:solidFill>
                          <a:latin typeface="Calibri"/>
                        </a:rPr>
                        <a:t>Find a Property Manager</a:t>
                      </a:r>
                    </a:p>
                  </a:txBody>
                  <a:tcPr>
                    <a:solidFill>
                      <a:srgbClr val="FFFFFF"/>
                    </a:solidFill>
                  </a:tcPr>
                </a:tc>
                <a:tc>
                  <a:txBody>
                    <a:bodyPr wrap="square"/>
                    <a:lstStyle/>
                    <a:p>
                      <a:r>
                        <a:rPr sz="1300">
                          <a:solidFill>
                            <a:srgbClr val="555555"/>
                          </a:solidFill>
                          <a:latin typeface="Calibri"/>
                        </a:rPr>
                        <a:t>Contacts tab, search by name</a:t>
                      </a:r>
                    </a:p>
                  </a:txBody>
                  <a:tcPr>
                    <a:solidFill>
                      <a:srgbClr val="FFFFFF"/>
                    </a:solidFill>
                  </a:tcPr>
                </a:tc>
              </a:tr>
              <a:tr h="548640">
                <a:tc>
                  <a:txBody>
                    <a:bodyPr wrap="square"/>
                    <a:lstStyle/>
                    <a:p>
                      <a:r>
                        <a:rPr sz="1300">
                          <a:solidFill>
                            <a:srgbClr val="555555"/>
                          </a:solidFill>
                          <a:latin typeface="Calibri"/>
                        </a:rPr>
                        <a:t>See all properties for a company</a:t>
                      </a:r>
                    </a:p>
                  </a:txBody>
                  <a:tcPr>
                    <a:solidFill>
                      <a:srgbClr val="F5F8FD"/>
                    </a:solidFill>
                  </a:tcPr>
                </a:tc>
                <a:tc>
                  <a:txBody>
                    <a:bodyPr wrap="square"/>
                    <a:lstStyle/>
                    <a:p>
                      <a:r>
                        <a:rPr sz="1300">
                          <a:solidFill>
                            <a:srgbClr val="555555"/>
                          </a:solidFill>
                          <a:latin typeface="Calibri"/>
                        </a:rPr>
                        <a:t>Account record, Opportunities related list</a:t>
                      </a:r>
                    </a:p>
                  </a:txBody>
                  <a:tcPr>
                    <a:solidFill>
                      <a:srgbClr val="F5F8FD"/>
                    </a:solidFill>
                  </a:tcPr>
                </a:tc>
              </a:tr>
              <a:tr h="548640">
                <a:tc>
                  <a:txBody>
                    <a:bodyPr wrap="square"/>
                    <a:lstStyle/>
                    <a:p>
                      <a:r>
                        <a:rPr sz="1300">
                          <a:solidFill>
                            <a:srgbClr val="555555"/>
                          </a:solidFill>
                          <a:latin typeface="Calibri"/>
                        </a:rPr>
                        <a:t>Check construction status</a:t>
                      </a:r>
                    </a:p>
                  </a:txBody>
                  <a:tcPr>
                    <a:solidFill>
                      <a:srgbClr val="FFFFFF"/>
                    </a:solidFill>
                  </a:tcPr>
                </a:tc>
                <a:tc>
                  <a:txBody>
                    <a:bodyPr wrap="square"/>
                    <a:lstStyle/>
                    <a:p>
                      <a:r>
                        <a:rPr sz="1300">
                          <a:solidFill>
                            <a:srgbClr val="555555"/>
                          </a:solidFill>
                          <a:latin typeface="Calibri"/>
                        </a:rPr>
                        <a:t>SiteTracker URL on the Opportunity</a:t>
                      </a:r>
                    </a:p>
                  </a:txBody>
                  <a:tcPr>
                    <a:solidFill>
                      <a:srgbClr val="FFFFFF"/>
                    </a:solidFill>
                  </a:tcPr>
                </a:tc>
              </a:tr>
              <a:tr h="548640">
                <a:tc>
                  <a:txBody>
                    <a:bodyPr wrap="square"/>
                    <a:lstStyle/>
                    <a:p>
                      <a:r>
                        <a:rPr sz="1300">
                          <a:solidFill>
                            <a:srgbClr val="555555"/>
                          </a:solidFill>
                          <a:latin typeface="Calibri"/>
                        </a:rPr>
                        <a:t>Run a list for a meeting</a:t>
                      </a:r>
                    </a:p>
                  </a:txBody>
                  <a:tcPr>
                    <a:solidFill>
                      <a:srgbClr val="F5F8FD"/>
                    </a:solidFill>
                  </a:tcPr>
                </a:tc>
                <a:tc>
                  <a:txBody>
                    <a:bodyPr wrap="square"/>
                    <a:lstStyle/>
                    <a:p>
                      <a:r>
                        <a:rPr sz="1300">
                          <a:solidFill>
                            <a:srgbClr val="555555"/>
                          </a:solidFill>
                          <a:latin typeface="Calibri"/>
                        </a:rPr>
                        <a:t>Reports tab, MDU Sales Reports folder</a:t>
                      </a:r>
                    </a:p>
                  </a:txBody>
                  <a:tcPr>
                    <a:solidFill>
                      <a:srgbClr val="F5F8FD"/>
                    </a:solidFill>
                  </a:tcPr>
                </a:tc>
              </a:tr>
            </a:tbl>
          </a:graphicData>
        </a:graphic>
      </p:graphicFrame>
      <p:sp>
        <p:nvSpPr>
          <p:cNvPr id="8" name="TextBox 7"/>
          <p:cNvSpPr txBox="1"/>
          <p:nvPr/>
        </p:nvSpPr>
        <p:spPr>
          <a:xfrm>
            <a:off x="457200" y="6446520"/>
            <a:ext cx="10972800" cy="274320"/>
          </a:xfrm>
          <a:prstGeom prst="rect">
            <a:avLst/>
          </a:prstGeom>
          <a:noFill/>
        </p:spPr>
        <p:txBody>
          <a:bodyPr wrap="square" lIns="45720" rIns="45720" tIns="18288" bIns="18288" anchor="t">
            <a:spAutoFit/>
          </a:bodyPr>
          <a:lstStyle/>
          <a:p>
            <a:pPr algn="l"/>
            <a:r>
              <a:rPr sz="1000" b="0">
                <a:solidFill>
                  <a:srgbClr val="555555"/>
                </a:solidFill>
                <a:latin typeface="Calibri"/>
              </a:rPr>
              <a:t>MDU Sales Training  •  Salesforce</a:t>
            </a:r>
          </a:p>
        </p:txBody>
      </p:sp>
      <p:sp>
        <p:nvSpPr>
          <p:cNvPr id="9" name="TextBox 8"/>
          <p:cNvSpPr txBox="1"/>
          <p:nvPr/>
        </p:nvSpPr>
        <p:spPr>
          <a:xfrm>
            <a:off x="10515600" y="6446520"/>
            <a:ext cx="1371600" cy="274320"/>
          </a:xfrm>
          <a:prstGeom prst="rect">
            <a:avLst/>
          </a:prstGeom>
          <a:noFill/>
        </p:spPr>
        <p:txBody>
          <a:bodyPr wrap="square" lIns="45720" rIns="45720" tIns="18288" bIns="18288" anchor="t">
            <a:spAutoFit/>
          </a:bodyPr>
          <a:lstStyle/>
          <a:p>
            <a:pPr algn="r"/>
            <a:r>
              <a:rPr sz="1000" b="0">
                <a:solidFill>
                  <a:srgbClr val="555555"/>
                </a:solidFill>
                <a:latin typeface="Calibri"/>
              </a:rPr>
              <a:t>Section 12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698480" cy="822960"/>
          </a:xfrm>
          <a:prstGeom prst="rect">
            <a:avLst/>
          </a:prstGeom>
          <a:noFill/>
        </p:spPr>
        <p:txBody>
          <a:bodyPr wrap="square" lIns="45720" rIns="45720" tIns="18288" bIns="18288" anchor="t">
            <a:spAutoFit/>
          </a:bodyPr>
          <a:lstStyle/>
          <a:p>
            <a:pPr algn="l"/>
            <a:r>
              <a:rPr sz="6400" b="1">
                <a:solidFill>
                  <a:srgbClr val="FFFFFF"/>
                </a:solidFill>
                <a:latin typeface="Calibri"/>
              </a:rPr>
              <a:t>Questions?</a:t>
            </a:r>
          </a:p>
        </p:txBody>
      </p:sp>
      <p:sp>
        <p:nvSpPr>
          <p:cNvPr id="5" name="TextBox 4"/>
          <p:cNvSpPr txBox="1"/>
          <p:nvPr/>
        </p:nvSpPr>
        <p:spPr>
          <a:xfrm>
            <a:off x="731520" y="3108960"/>
            <a:ext cx="10698480" cy="548640"/>
          </a:xfrm>
          <a:prstGeom prst="rect">
            <a:avLst/>
          </a:prstGeom>
          <a:noFill/>
        </p:spPr>
        <p:txBody>
          <a:bodyPr wrap="square" lIns="45720" rIns="45720" tIns="18288" bIns="18288" anchor="t">
            <a:spAutoFit/>
          </a:bodyPr>
          <a:lstStyle/>
          <a:p>
            <a:pPr algn="l"/>
            <a:r>
              <a:rPr sz="2200" b="0">
                <a:solidFill>
                  <a:srgbClr val="E8EEF7"/>
                </a:solidFill>
                <a:latin typeface="Calibri"/>
              </a:rPr>
              <a:t>Send anything that comes up after the session to Cass.</a:t>
            </a:r>
          </a:p>
        </p:txBody>
      </p:sp>
      <p:sp>
        <p:nvSpPr>
          <p:cNvPr id="6" name="TextBox 5"/>
          <p:cNvSpPr txBox="1"/>
          <p:nvPr/>
        </p:nvSpPr>
        <p:spPr>
          <a:xfrm>
            <a:off x="731520" y="6035040"/>
            <a:ext cx="10698480" cy="365760"/>
          </a:xfrm>
          <a:prstGeom prst="rect">
            <a:avLst/>
          </a:prstGeom>
          <a:noFill/>
        </p:spPr>
        <p:txBody>
          <a:bodyPr wrap="square" lIns="45720" rIns="45720" tIns="18288" bIns="18288" anchor="t">
            <a:spAutoFit/>
          </a:bodyPr>
          <a:lstStyle/>
          <a:p>
            <a:pPr algn="l"/>
            <a:r>
              <a:rPr sz="1200" b="0">
                <a:solidFill>
                  <a:srgbClr val="E8EEF7"/>
                </a:solidFill>
                <a:latin typeface="Calibri"/>
              </a:rPr>
              <a:t>MDU Sales 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